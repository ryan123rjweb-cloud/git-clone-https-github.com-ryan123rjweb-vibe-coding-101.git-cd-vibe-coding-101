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2" r:id="rId2"/>
    <p:sldId id="274" r:id="rId3"/>
    <p:sldId id="275" r:id="rId4"/>
    <p:sldId id="258" r:id="rId5"/>
    <p:sldId id="259" r:id="rId6"/>
    <p:sldId id="260" r:id="rId7"/>
    <p:sldId id="262" r:id="rId8"/>
    <p:sldId id="263" r:id="rId9"/>
    <p:sldId id="266" r:id="rId10"/>
    <p:sldId id="267" r:id="rId11"/>
    <p:sldId id="269" r:id="rId12"/>
    <p:sldId id="270"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791DCF4-5E4C-4F41-8FF6-4E667F0B8BE1}">
          <p14:sldIdLst>
            <p14:sldId id="272"/>
            <p14:sldId id="274"/>
            <p14:sldId id="275"/>
            <p14:sldId id="258"/>
            <p14:sldId id="259"/>
            <p14:sldId id="260"/>
            <p14:sldId id="262"/>
            <p14:sldId id="263"/>
            <p14:sldId id="266"/>
            <p14:sldId id="267"/>
            <p14:sldId id="269"/>
            <p14:sldId id="27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5910B3-93DB-48B3-F78C-724A29C507FD}" v="803" dt="2026-09-29T20:47:33.7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BEB176-76BB-1DD7-1E32-36A8339E4646}"/>
              </a:ext>
            </a:extLst>
          </p:cNvPr>
          <p:cNvSpPr txBox="1"/>
          <p:nvPr/>
        </p:nvSpPr>
        <p:spPr>
          <a:xfrm>
            <a:off x="7080531" y="3429000"/>
            <a:ext cx="6096000"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200" b="1" i="0" u="none" strike="noStrike" baseline="0">
                <a:solidFill>
                  <a:srgbClr val="4FC3F7"/>
                </a:solidFill>
                <a:latin typeface="Century Gothic"/>
              </a:rPr>
              <a:t>101</a:t>
            </a:r>
            <a:r>
              <a:rPr sz="5200" b="0" i="0">
                <a:solidFill>
                  <a:srgbClr val="000000"/>
                </a:solidFill>
                <a:latin typeface="Century Gothic"/>
                <a:ea typeface="Century Gothic"/>
                <a:cs typeface="Century Gothic"/>
              </a:rPr>
              <a:t>​</a:t>
            </a:r>
            <a:endParaRPr lang="en-US"/>
          </a:p>
          <a:p>
            <a:pPr algn="ctr"/>
            <a:endParaRPr lang="en-US"/>
          </a:p>
        </p:txBody>
      </p:sp>
      <p:sp>
        <p:nvSpPr>
          <p:cNvPr id="3" name="TextBox 2">
            <a:extLst>
              <a:ext uri="{FF2B5EF4-FFF2-40B4-BE49-F238E27FC236}">
                <a16:creationId xmlns:a16="http://schemas.microsoft.com/office/drawing/2014/main" id="{D181BFEF-ACB8-192B-8375-DB84127D2325}"/>
              </a:ext>
            </a:extLst>
          </p:cNvPr>
          <p:cNvSpPr txBox="1"/>
          <p:nvPr/>
        </p:nvSpPr>
        <p:spPr>
          <a:xfrm>
            <a:off x="3391911" y="2646770"/>
            <a:ext cx="6096000"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200" b="1" dirty="0">
                <a:latin typeface="Century Gothic"/>
              </a:rPr>
              <a:t>  Vibe Coding</a:t>
            </a:r>
            <a:endParaRPr lang="en-US" dirty="0">
              <a:ea typeface="Calibri"/>
              <a:cs typeface="Calibri"/>
            </a:endParaRPr>
          </a:p>
          <a:p>
            <a:pPr algn="ctr"/>
            <a:endParaRPr lang="en-US"/>
          </a:p>
        </p:txBody>
      </p:sp>
      <p:pic>
        <p:nvPicPr>
          <p:cNvPr id="4" name="Picture 3">
            <a:extLst>
              <a:ext uri="{FF2B5EF4-FFF2-40B4-BE49-F238E27FC236}">
                <a16:creationId xmlns:a16="http://schemas.microsoft.com/office/drawing/2014/main" id="{51DF4671-CB70-26AB-8333-7C73AB0CC06F}"/>
              </a:ext>
            </a:extLst>
          </p:cNvPr>
          <p:cNvPicPr>
            <a:picLocks noChangeAspect="1"/>
          </p:cNvPicPr>
          <p:nvPr/>
        </p:nvPicPr>
        <p:blipFill>
          <a:blip r:embed="rId2"/>
          <a:stretch>
            <a:fillRect/>
          </a:stretch>
        </p:blipFill>
        <p:spPr>
          <a:xfrm>
            <a:off x="6679488" y="4875393"/>
            <a:ext cx="1922973" cy="2052368"/>
          </a:xfrm>
          <a:prstGeom prst="rect">
            <a:avLst/>
          </a:prstGeom>
        </p:spPr>
      </p:pic>
      <p:pic>
        <p:nvPicPr>
          <p:cNvPr id="5" name="Picture 4">
            <a:extLst>
              <a:ext uri="{FF2B5EF4-FFF2-40B4-BE49-F238E27FC236}">
                <a16:creationId xmlns:a16="http://schemas.microsoft.com/office/drawing/2014/main" id="{30104C33-58EA-A328-FC06-C363309F2801}"/>
              </a:ext>
            </a:extLst>
          </p:cNvPr>
          <p:cNvPicPr>
            <a:picLocks noChangeAspect="1"/>
          </p:cNvPicPr>
          <p:nvPr/>
        </p:nvPicPr>
        <p:blipFill>
          <a:blip r:embed="rId3"/>
          <a:stretch>
            <a:fillRect/>
          </a:stretch>
        </p:blipFill>
        <p:spPr>
          <a:xfrm>
            <a:off x="4162048" y="4934666"/>
            <a:ext cx="1595887" cy="1595887"/>
          </a:xfrm>
          <a:prstGeom prst="rect">
            <a:avLst/>
          </a:prstGeom>
        </p:spPr>
      </p:pic>
      <p:pic>
        <p:nvPicPr>
          <p:cNvPr id="7" name="Picture 6">
            <a:extLst>
              <a:ext uri="{FF2B5EF4-FFF2-40B4-BE49-F238E27FC236}">
                <a16:creationId xmlns:a16="http://schemas.microsoft.com/office/drawing/2014/main" id="{9AEEF61E-BB33-140D-2DD6-9B28F2E8D98F}"/>
              </a:ext>
            </a:extLst>
          </p:cNvPr>
          <p:cNvPicPr>
            <a:picLocks noChangeAspect="1"/>
          </p:cNvPicPr>
          <p:nvPr/>
        </p:nvPicPr>
        <p:blipFill>
          <a:blip r:embed="rId4"/>
          <a:stretch>
            <a:fillRect/>
          </a:stretch>
        </p:blipFill>
        <p:spPr>
          <a:xfrm>
            <a:off x="9409123" y="4647514"/>
            <a:ext cx="1723173" cy="1802446"/>
          </a:xfrm>
          <a:prstGeom prst="rect">
            <a:avLst/>
          </a:prstGeom>
        </p:spPr>
      </p:pic>
      <p:pic>
        <p:nvPicPr>
          <p:cNvPr id="8" name="Picture 7">
            <a:extLst>
              <a:ext uri="{FF2B5EF4-FFF2-40B4-BE49-F238E27FC236}">
                <a16:creationId xmlns:a16="http://schemas.microsoft.com/office/drawing/2014/main" id="{78B2F534-406B-CDAB-FB8E-946958657CDA}"/>
              </a:ext>
            </a:extLst>
          </p:cNvPr>
          <p:cNvPicPr>
            <a:picLocks noChangeAspect="1"/>
          </p:cNvPicPr>
          <p:nvPr/>
        </p:nvPicPr>
        <p:blipFill>
          <a:blip r:embed="rId5"/>
          <a:stretch>
            <a:fillRect/>
          </a:stretch>
        </p:blipFill>
        <p:spPr>
          <a:xfrm>
            <a:off x="923779" y="4529263"/>
            <a:ext cx="1955321" cy="1926567"/>
          </a:xfrm>
          <a:prstGeom prst="rect">
            <a:avLst/>
          </a:prstGeom>
        </p:spPr>
      </p:pic>
      <p:pic>
        <p:nvPicPr>
          <p:cNvPr id="9" name="Picture 8">
            <a:extLst>
              <a:ext uri="{FF2B5EF4-FFF2-40B4-BE49-F238E27FC236}">
                <a16:creationId xmlns:a16="http://schemas.microsoft.com/office/drawing/2014/main" id="{783FFD1C-96E6-6763-813C-CA46137F5F96}"/>
              </a:ext>
            </a:extLst>
          </p:cNvPr>
          <p:cNvPicPr>
            <a:picLocks noChangeAspect="1"/>
          </p:cNvPicPr>
          <p:nvPr/>
        </p:nvPicPr>
        <p:blipFill>
          <a:blip r:embed="rId6"/>
          <a:stretch>
            <a:fillRect/>
          </a:stretch>
        </p:blipFill>
        <p:spPr>
          <a:xfrm>
            <a:off x="10133663" y="2695491"/>
            <a:ext cx="1475329" cy="1467942"/>
          </a:xfrm>
          <a:prstGeom prst="rect">
            <a:avLst/>
          </a:prstGeom>
        </p:spPr>
      </p:pic>
      <p:pic>
        <p:nvPicPr>
          <p:cNvPr id="10" name="Picture 9">
            <a:extLst>
              <a:ext uri="{FF2B5EF4-FFF2-40B4-BE49-F238E27FC236}">
                <a16:creationId xmlns:a16="http://schemas.microsoft.com/office/drawing/2014/main" id="{51DA6273-4392-155B-59D4-12E847E3BAAE}"/>
              </a:ext>
            </a:extLst>
          </p:cNvPr>
          <p:cNvPicPr>
            <a:picLocks noChangeAspect="1"/>
          </p:cNvPicPr>
          <p:nvPr/>
        </p:nvPicPr>
        <p:blipFill>
          <a:blip r:embed="rId7"/>
          <a:stretch>
            <a:fillRect/>
          </a:stretch>
        </p:blipFill>
        <p:spPr>
          <a:xfrm>
            <a:off x="10130629" y="433498"/>
            <a:ext cx="1840302" cy="1754038"/>
          </a:xfrm>
          <a:prstGeom prst="rect">
            <a:avLst/>
          </a:prstGeom>
        </p:spPr>
      </p:pic>
      <p:pic>
        <p:nvPicPr>
          <p:cNvPr id="11" name="Picture 10">
            <a:extLst>
              <a:ext uri="{FF2B5EF4-FFF2-40B4-BE49-F238E27FC236}">
                <a16:creationId xmlns:a16="http://schemas.microsoft.com/office/drawing/2014/main" id="{5501DC03-160D-4BB3-7C73-50A42D9B9107}"/>
              </a:ext>
            </a:extLst>
          </p:cNvPr>
          <p:cNvPicPr>
            <a:picLocks noChangeAspect="1"/>
          </p:cNvPicPr>
          <p:nvPr/>
        </p:nvPicPr>
        <p:blipFill>
          <a:blip r:embed="rId8"/>
          <a:stretch>
            <a:fillRect/>
          </a:stretch>
        </p:blipFill>
        <p:spPr>
          <a:xfrm>
            <a:off x="2980057" y="361136"/>
            <a:ext cx="1981200" cy="1219200"/>
          </a:xfrm>
          <a:prstGeom prst="rect">
            <a:avLst/>
          </a:prstGeom>
        </p:spPr>
      </p:pic>
      <p:pic>
        <p:nvPicPr>
          <p:cNvPr id="12" name="Picture 11">
            <a:extLst>
              <a:ext uri="{FF2B5EF4-FFF2-40B4-BE49-F238E27FC236}">
                <a16:creationId xmlns:a16="http://schemas.microsoft.com/office/drawing/2014/main" id="{1830311E-FEA6-C99B-827F-5F048E46ADDB}"/>
              </a:ext>
            </a:extLst>
          </p:cNvPr>
          <p:cNvPicPr>
            <a:picLocks noChangeAspect="1"/>
          </p:cNvPicPr>
          <p:nvPr/>
        </p:nvPicPr>
        <p:blipFill>
          <a:blip r:embed="rId9"/>
          <a:stretch>
            <a:fillRect/>
          </a:stretch>
        </p:blipFill>
        <p:spPr>
          <a:xfrm>
            <a:off x="723352" y="429804"/>
            <a:ext cx="1748763" cy="1747971"/>
          </a:xfrm>
          <a:prstGeom prst="rect">
            <a:avLst/>
          </a:prstGeom>
        </p:spPr>
      </p:pic>
      <p:pic>
        <p:nvPicPr>
          <p:cNvPr id="13" name="Picture 12">
            <a:extLst>
              <a:ext uri="{FF2B5EF4-FFF2-40B4-BE49-F238E27FC236}">
                <a16:creationId xmlns:a16="http://schemas.microsoft.com/office/drawing/2014/main" id="{F5070202-B8D7-E5DA-ADC6-F116A28177B0}"/>
              </a:ext>
            </a:extLst>
          </p:cNvPr>
          <p:cNvPicPr>
            <a:picLocks noChangeAspect="1"/>
          </p:cNvPicPr>
          <p:nvPr/>
        </p:nvPicPr>
        <p:blipFill>
          <a:blip r:embed="rId10"/>
          <a:stretch>
            <a:fillRect/>
          </a:stretch>
        </p:blipFill>
        <p:spPr>
          <a:xfrm>
            <a:off x="356532" y="2625846"/>
            <a:ext cx="1546688" cy="1538511"/>
          </a:xfrm>
          <a:prstGeom prst="rect">
            <a:avLst/>
          </a:prstGeom>
        </p:spPr>
      </p:pic>
      <p:pic>
        <p:nvPicPr>
          <p:cNvPr id="14" name="Picture 13">
            <a:extLst>
              <a:ext uri="{FF2B5EF4-FFF2-40B4-BE49-F238E27FC236}">
                <a16:creationId xmlns:a16="http://schemas.microsoft.com/office/drawing/2014/main" id="{19FED0CD-CAD9-49D2-2EE5-6DE93737C231}"/>
              </a:ext>
            </a:extLst>
          </p:cNvPr>
          <p:cNvPicPr>
            <a:picLocks noChangeAspect="1"/>
          </p:cNvPicPr>
          <p:nvPr/>
        </p:nvPicPr>
        <p:blipFill>
          <a:blip r:embed="rId11"/>
          <a:stretch>
            <a:fillRect/>
          </a:stretch>
        </p:blipFill>
        <p:spPr>
          <a:xfrm>
            <a:off x="5762419" y="-64699"/>
            <a:ext cx="2041588" cy="2070342"/>
          </a:xfrm>
          <a:prstGeom prst="rect">
            <a:avLst/>
          </a:prstGeom>
        </p:spPr>
      </p:pic>
      <p:pic>
        <p:nvPicPr>
          <p:cNvPr id="15" name="Picture 14">
            <a:extLst>
              <a:ext uri="{FF2B5EF4-FFF2-40B4-BE49-F238E27FC236}">
                <a16:creationId xmlns:a16="http://schemas.microsoft.com/office/drawing/2014/main" id="{80DBADEC-0FF5-27E4-65FE-BB551B4A5183}"/>
              </a:ext>
            </a:extLst>
          </p:cNvPr>
          <p:cNvPicPr>
            <a:picLocks noChangeAspect="1"/>
          </p:cNvPicPr>
          <p:nvPr/>
        </p:nvPicPr>
        <p:blipFill>
          <a:blip r:embed="rId12"/>
          <a:stretch>
            <a:fillRect/>
          </a:stretch>
        </p:blipFill>
        <p:spPr>
          <a:xfrm>
            <a:off x="7958066" y="82901"/>
            <a:ext cx="2012831" cy="2041585"/>
          </a:xfrm>
          <a:prstGeom prst="rect">
            <a:avLst/>
          </a:prstGeom>
        </p:spPr>
      </p:pic>
    </p:spTree>
    <p:extLst>
      <p:ext uri="{BB962C8B-B14F-4D97-AF65-F5344CB8AC3E}">
        <p14:creationId xmlns:p14="http://schemas.microsoft.com/office/powerpoint/2010/main" val="2365217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5B999D-37A1-3938-0207-0DDC3030D61F}"/>
              </a:ext>
            </a:extLst>
          </p:cNvPr>
          <p:cNvSpPr txBox="1"/>
          <p:nvPr/>
        </p:nvSpPr>
        <p:spPr>
          <a:xfrm>
            <a:off x="1102311" y="1187388"/>
            <a:ext cx="8685320" cy="2523768"/>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00B0F0"/>
                </a:solidFill>
                <a:latin typeface="Calibri"/>
                <a:ea typeface="Segoe UI"/>
                <a:cs typeface="Segoe UI"/>
              </a:rPr>
              <a:t>-</a:t>
            </a:r>
            <a:r>
              <a:rPr lang="en-US" sz="2000" b="0" i="0" u="none" strike="noStrike" baseline="0" dirty="0">
                <a:solidFill>
                  <a:srgbClr val="00B0F0"/>
                </a:solidFill>
                <a:latin typeface="Calibri"/>
                <a:ea typeface="Segoe UI"/>
                <a:cs typeface="Segoe UI"/>
              </a:rPr>
              <a:t>You describe what you want in plain language. An AI agent reads your project, plans a change, </a:t>
            </a:r>
            <a:r>
              <a:rPr lang="en-US" sz="2000" dirty="0">
                <a:solidFill>
                  <a:srgbClr val="00B0F0"/>
                </a:solidFill>
                <a:latin typeface="Calibri"/>
                <a:ea typeface="Segoe UI"/>
                <a:cs typeface="Segoe UI"/>
              </a:rPr>
              <a:t>edits the</a:t>
            </a:r>
            <a:r>
              <a:rPr lang="en-US" sz="2000" b="0" i="0" u="none" strike="noStrike" baseline="0" dirty="0">
                <a:solidFill>
                  <a:srgbClr val="00B0F0"/>
                </a:solidFill>
                <a:latin typeface="Calibri"/>
                <a:ea typeface="Segoe UI"/>
                <a:cs typeface="Segoe UI"/>
              </a:rPr>
              <a:t> files, and runs commands to check its own work. You steer, it drives.</a:t>
            </a:r>
            <a:r>
              <a:rPr sz="2000" b="0" i="0" dirty="0">
                <a:solidFill>
                  <a:srgbClr val="00B0F0"/>
                </a:solidFill>
                <a:latin typeface="Calibri"/>
                <a:ea typeface="Calibri"/>
                <a:cs typeface="Calibri"/>
              </a:rPr>
              <a:t>​</a:t>
            </a:r>
            <a:endParaRPr lang="en-US" sz="2000" dirty="0">
              <a:solidFill>
                <a:srgbClr val="00B0F0"/>
              </a:solidFill>
              <a:ea typeface="Calibri"/>
              <a:cs typeface="Calibri"/>
            </a:endParaRPr>
          </a:p>
          <a:p>
            <a:endParaRPr lang="en-US" sz="2000" dirty="0">
              <a:solidFill>
                <a:srgbClr val="00B0F0"/>
              </a:solidFill>
              <a:ea typeface="Calibri"/>
              <a:cs typeface="Calibri"/>
            </a:endParaRPr>
          </a:p>
          <a:p>
            <a:r>
              <a:rPr lang="en-US" sz="2000" dirty="0">
                <a:solidFill>
                  <a:srgbClr val="00B0F0"/>
                </a:solidFill>
                <a:ea typeface="Calibri"/>
                <a:cs typeface="Calibri"/>
              </a:rPr>
              <a:t>-The risk isn't that the AI writes bad code. It's that nobody wrote down a plan, and nobody checked the output before it shipped. Everything after this slide is about closing those two gaps</a:t>
            </a:r>
            <a:endParaRPr lang="en-US"/>
          </a:p>
          <a:p>
            <a:pPr algn="ctr"/>
            <a:endParaRPr lang="en-US" dirty="0">
              <a:solidFill>
                <a:srgbClr val="00B0F0"/>
              </a:solidFill>
              <a:ea typeface="Calibri"/>
              <a:cs typeface="Calibri"/>
            </a:endParaRPr>
          </a:p>
        </p:txBody>
      </p:sp>
      <p:sp>
        <p:nvSpPr>
          <p:cNvPr id="3" name="TextBox 2">
            <a:extLst>
              <a:ext uri="{FF2B5EF4-FFF2-40B4-BE49-F238E27FC236}">
                <a16:creationId xmlns:a16="http://schemas.microsoft.com/office/drawing/2014/main" id="{B36DBD0D-C18C-6511-A466-59A564845262}"/>
              </a:ext>
            </a:extLst>
          </p:cNvPr>
          <p:cNvSpPr txBox="1"/>
          <p:nvPr/>
        </p:nvSpPr>
        <p:spPr>
          <a:xfrm>
            <a:off x="599243" y="395796"/>
            <a:ext cx="7361067"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i="0" u="none" strike="noStrike" baseline="0">
                <a:solidFill>
                  <a:srgbClr val="000000"/>
                </a:solidFill>
                <a:latin typeface="Century Gothic"/>
              </a:rPr>
              <a:t>What "vibe coding" actually means</a:t>
            </a:r>
            <a:r>
              <a:rPr sz="3200" b="0" i="0">
                <a:solidFill>
                  <a:srgbClr val="000000"/>
                </a:solidFill>
                <a:latin typeface="Century Gothic"/>
                <a:ea typeface="Century Gothic"/>
                <a:cs typeface="Century Gothic"/>
              </a:rPr>
              <a:t>​</a:t>
            </a:r>
            <a:endParaRPr lang="en-US"/>
          </a:p>
          <a:p>
            <a:pPr algn="ctr"/>
            <a:endParaRPr lang="en-US"/>
          </a:p>
        </p:txBody>
      </p:sp>
      <p:pic>
        <p:nvPicPr>
          <p:cNvPr id="4" name="Picture 3">
            <a:extLst>
              <a:ext uri="{FF2B5EF4-FFF2-40B4-BE49-F238E27FC236}">
                <a16:creationId xmlns:a16="http://schemas.microsoft.com/office/drawing/2014/main" id="{5A33F7A7-ECDD-1DEF-5A44-423D54B936F9}"/>
              </a:ext>
            </a:extLst>
          </p:cNvPr>
          <p:cNvPicPr>
            <a:picLocks noChangeAspect="1"/>
          </p:cNvPicPr>
          <p:nvPr/>
        </p:nvPicPr>
        <p:blipFill>
          <a:blip r:embed="rId2"/>
          <a:stretch>
            <a:fillRect/>
          </a:stretch>
        </p:blipFill>
        <p:spPr>
          <a:xfrm>
            <a:off x="1662437" y="3617605"/>
            <a:ext cx="9680914" cy="3048093"/>
          </a:xfrm>
          <a:prstGeom prst="rect">
            <a:avLst/>
          </a:prstGeom>
        </p:spPr>
      </p:pic>
    </p:spTree>
    <p:extLst>
      <p:ext uri="{BB962C8B-B14F-4D97-AF65-F5344CB8AC3E}">
        <p14:creationId xmlns:p14="http://schemas.microsoft.com/office/powerpoint/2010/main" val="1922175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5A3D75-DB9F-EFB7-AFBA-9557C66549E9}"/>
              </a:ext>
            </a:extLst>
          </p:cNvPr>
          <p:cNvSpPr txBox="1"/>
          <p:nvPr/>
        </p:nvSpPr>
        <p:spPr>
          <a:xfrm>
            <a:off x="1534609" y="1529190"/>
            <a:ext cx="8847241" cy="51090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ea typeface="Calibri"/>
                <a:cs typeface="Calibri"/>
              </a:rPr>
              <a:t>Agent</a:t>
            </a:r>
            <a:endParaRPr lang="en-US" dirty="0"/>
          </a:p>
          <a:p>
            <a:r>
              <a:rPr lang="en-US" dirty="0">
                <a:ea typeface="+mn-lt"/>
                <a:cs typeface="+mn-lt"/>
              </a:rPr>
              <a:t>Uses a model and tools to pursue a goal, take actions, check results, and adjust its next step.</a:t>
            </a:r>
          </a:p>
          <a:p>
            <a:endParaRPr lang="en-US" dirty="0">
              <a:ea typeface="Calibri"/>
              <a:cs typeface="Calibri"/>
            </a:endParaRPr>
          </a:p>
          <a:p>
            <a:endParaRPr lang="en-US" sz="3200" dirty="0">
              <a:ea typeface="Calibri"/>
              <a:cs typeface="Calibri"/>
            </a:endParaRPr>
          </a:p>
          <a:p>
            <a:r>
              <a:rPr lang="en-US" sz="3200" dirty="0">
                <a:ea typeface="Calibri"/>
                <a:cs typeface="Calibri"/>
              </a:rPr>
              <a:t>LM/ LLM  </a:t>
            </a:r>
            <a:endParaRPr lang="en-US" dirty="0">
              <a:ea typeface="Calibri"/>
              <a:cs typeface="Calibri"/>
            </a:endParaRPr>
          </a:p>
          <a:p>
            <a:r>
              <a:rPr lang="en-US" dirty="0">
                <a:ea typeface="+mn-lt"/>
                <a:cs typeface="+mn-lt"/>
              </a:rPr>
              <a:t>A language model interprets prompts and generates responses or code. It needs surrounding software to execute actions.</a:t>
            </a:r>
          </a:p>
          <a:p>
            <a:endParaRPr lang="en-US" dirty="0">
              <a:ea typeface="Calibri"/>
              <a:cs typeface="Calibri"/>
            </a:endParaRPr>
          </a:p>
          <a:p>
            <a:endParaRPr lang="en-US" dirty="0">
              <a:ea typeface="Calibri"/>
              <a:cs typeface="Calibri"/>
            </a:endParaRPr>
          </a:p>
          <a:p>
            <a:r>
              <a:rPr lang="en-US" sz="3200" dirty="0">
                <a:ea typeface="Calibri"/>
                <a:cs typeface="Calibri"/>
              </a:rPr>
              <a:t>Harness</a:t>
            </a:r>
          </a:p>
          <a:p>
            <a:r>
              <a:rPr lang="en-US" dirty="0">
                <a:ea typeface="+mn-lt"/>
                <a:cs typeface="+mn-lt"/>
              </a:rPr>
              <a:t>Software around the model that manages tools, context, permissions, and the loop that keeps work moving.</a:t>
            </a:r>
          </a:p>
          <a:p>
            <a:endParaRPr lang="en-US" dirty="0">
              <a:ea typeface="+mn-lt"/>
              <a:cs typeface="+mn-lt"/>
            </a:endParaRPr>
          </a:p>
          <a:p>
            <a:endParaRPr lang="en-US" dirty="0">
              <a:ea typeface="+mn-lt"/>
              <a:cs typeface="+mn-lt"/>
            </a:endParaRPr>
          </a:p>
          <a:p>
            <a:r>
              <a:rPr lang="en-US" dirty="0">
                <a:ea typeface="+mn-lt"/>
                <a:cs typeface="+mn-lt"/>
              </a:rPr>
              <a:t>Most mainstream companies offer all 3 in one system like chat </a:t>
            </a:r>
            <a:r>
              <a:rPr lang="en-US" dirty="0" err="1">
                <a:ea typeface="+mn-lt"/>
                <a:cs typeface="+mn-lt"/>
              </a:rPr>
              <a:t>gpt</a:t>
            </a:r>
            <a:r>
              <a:rPr lang="en-US" dirty="0">
                <a:ea typeface="+mn-lt"/>
                <a:cs typeface="+mn-lt"/>
              </a:rPr>
              <a:t>. </a:t>
            </a:r>
          </a:p>
        </p:txBody>
      </p:sp>
      <p:pic>
        <p:nvPicPr>
          <p:cNvPr id="3" name="Picture 2">
            <a:extLst>
              <a:ext uri="{FF2B5EF4-FFF2-40B4-BE49-F238E27FC236}">
                <a16:creationId xmlns:a16="http://schemas.microsoft.com/office/drawing/2014/main" id="{A52C20EF-0BC1-CE0A-3FE6-517A893095FD}"/>
              </a:ext>
            </a:extLst>
          </p:cNvPr>
          <p:cNvPicPr>
            <a:picLocks noChangeAspect="1"/>
          </p:cNvPicPr>
          <p:nvPr/>
        </p:nvPicPr>
        <p:blipFill>
          <a:blip r:embed="rId2"/>
          <a:stretch>
            <a:fillRect/>
          </a:stretch>
        </p:blipFill>
        <p:spPr>
          <a:xfrm>
            <a:off x="562253" y="1712650"/>
            <a:ext cx="732409" cy="732409"/>
          </a:xfrm>
          <a:prstGeom prst="rect">
            <a:avLst/>
          </a:prstGeom>
        </p:spPr>
      </p:pic>
      <p:pic>
        <p:nvPicPr>
          <p:cNvPr id="4" name="Picture 3">
            <a:extLst>
              <a:ext uri="{FF2B5EF4-FFF2-40B4-BE49-F238E27FC236}">
                <a16:creationId xmlns:a16="http://schemas.microsoft.com/office/drawing/2014/main" id="{195783CC-5121-13EC-6346-B5F7FC17AFBB}"/>
              </a:ext>
            </a:extLst>
          </p:cNvPr>
          <p:cNvPicPr>
            <a:picLocks noChangeAspect="1"/>
          </p:cNvPicPr>
          <p:nvPr/>
        </p:nvPicPr>
        <p:blipFill>
          <a:blip r:embed="rId3"/>
          <a:stretch>
            <a:fillRect/>
          </a:stretch>
        </p:blipFill>
        <p:spPr>
          <a:xfrm flipV="1">
            <a:off x="562253" y="4775447"/>
            <a:ext cx="1028331" cy="1020932"/>
          </a:xfrm>
          <a:prstGeom prst="rect">
            <a:avLst/>
          </a:prstGeom>
        </p:spPr>
      </p:pic>
      <p:pic>
        <p:nvPicPr>
          <p:cNvPr id="5" name="Picture 4">
            <a:extLst>
              <a:ext uri="{FF2B5EF4-FFF2-40B4-BE49-F238E27FC236}">
                <a16:creationId xmlns:a16="http://schemas.microsoft.com/office/drawing/2014/main" id="{0E0403BC-7F5C-4275-81E2-200ECDBA1DBD}"/>
              </a:ext>
            </a:extLst>
          </p:cNvPr>
          <p:cNvPicPr>
            <a:picLocks noChangeAspect="1"/>
          </p:cNvPicPr>
          <p:nvPr/>
        </p:nvPicPr>
        <p:blipFill>
          <a:blip r:embed="rId4"/>
          <a:stretch>
            <a:fillRect/>
          </a:stretch>
        </p:blipFill>
        <p:spPr>
          <a:xfrm>
            <a:off x="673224" y="3266242"/>
            <a:ext cx="813788" cy="806390"/>
          </a:xfrm>
          <a:prstGeom prst="rect">
            <a:avLst/>
          </a:prstGeom>
        </p:spPr>
      </p:pic>
      <p:sp>
        <p:nvSpPr>
          <p:cNvPr id="7" name="TextBox 6">
            <a:extLst>
              <a:ext uri="{FF2B5EF4-FFF2-40B4-BE49-F238E27FC236}">
                <a16:creationId xmlns:a16="http://schemas.microsoft.com/office/drawing/2014/main" id="{2E42F4FD-42F4-450A-2837-33FBCE27E373}"/>
              </a:ext>
            </a:extLst>
          </p:cNvPr>
          <p:cNvSpPr txBox="1"/>
          <p:nvPr/>
        </p:nvSpPr>
        <p:spPr>
          <a:xfrm>
            <a:off x="926333" y="478892"/>
            <a:ext cx="1043779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Century Gothic"/>
                <a:ea typeface="Calibri"/>
                <a:cs typeface="Calibri"/>
              </a:rPr>
              <a:t>An agent is a loop. A model is who's thinking.</a:t>
            </a:r>
            <a:endParaRPr lang="en-US" sz="3200" dirty="0">
              <a:latin typeface="Century Gothic"/>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1722683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93281" y="664346"/>
            <a:ext cx="11094415" cy="397738"/>
          </a:xfrm>
          <a:prstGeom prst="rect">
            <a:avLst/>
          </a:prstGeom>
          <a:noFill/>
        </p:spPr>
        <p:txBody>
          <a:bodyPr wrap="square" lIns="0" tIns="0" rIns="0" bIns="0" anchor="t">
            <a:spAutoFit/>
          </a:bodyPr>
          <a:lstStyle/>
          <a:p>
            <a:pPr>
              <a:lnSpc>
                <a:spcPct val="115000"/>
              </a:lnSpc>
            </a:pPr>
            <a:r>
              <a:rPr lang="en-US" sz="1300" b="1" dirty="0">
                <a:solidFill>
                  <a:srgbClr val="4FC3F7"/>
                </a:solidFill>
                <a:latin typeface="Consolas"/>
              </a:rPr>
              <a:t> </a:t>
            </a:r>
            <a:r>
              <a:rPr sz="2400" b="1" i="0" dirty="0">
                <a:solidFill>
                  <a:srgbClr val="4FC3F7"/>
                </a:solidFill>
                <a:latin typeface="Consolas"/>
              </a:rPr>
              <a:t>GITHUB</a:t>
            </a:r>
            <a:endParaRPr lang="en-US" sz="2400" b="1" i="0" dirty="0">
              <a:solidFill>
                <a:srgbClr val="4FC3F7"/>
              </a:solidFill>
              <a:latin typeface="Consolas"/>
            </a:endParaRPr>
          </a:p>
        </p:txBody>
      </p:sp>
      <p:sp>
        <p:nvSpPr>
          <p:cNvPr id="4" name="TextBox 3"/>
          <p:cNvSpPr txBox="1"/>
          <p:nvPr/>
        </p:nvSpPr>
        <p:spPr>
          <a:xfrm>
            <a:off x="548640" y="868680"/>
            <a:ext cx="5303520" cy="1188720"/>
          </a:xfrm>
          <a:prstGeom prst="rect">
            <a:avLst/>
          </a:prstGeom>
          <a:noFill/>
        </p:spPr>
        <p:txBody>
          <a:bodyPr wrap="square" lIns="0" tIns="0" rIns="0" bIns="0" anchor="t">
            <a:spAutoFit/>
          </a:bodyPr>
          <a:lstStyle/>
          <a:p>
            <a:pPr algn="l">
              <a:lnSpc>
                <a:spcPct val="105000"/>
              </a:lnSpc>
            </a:pPr>
            <a:r>
              <a:rPr sz="3200" b="1" i="0">
                <a:solidFill>
                  <a:srgbClr val="FFFFFF"/>
                </a:solidFill>
                <a:latin typeface="Century Gothic"/>
              </a:rPr>
              <a:t>Where your code (and your agent) lives</a:t>
            </a:r>
          </a:p>
        </p:txBody>
      </p:sp>
      <p:sp>
        <p:nvSpPr>
          <p:cNvPr id="5" name="TextBox 4"/>
          <p:cNvSpPr txBox="1"/>
          <p:nvPr/>
        </p:nvSpPr>
        <p:spPr>
          <a:xfrm>
            <a:off x="548640" y="2423308"/>
            <a:ext cx="1554480" cy="265137"/>
          </a:xfrm>
          <a:prstGeom prst="rect">
            <a:avLst/>
          </a:prstGeom>
          <a:noFill/>
        </p:spPr>
        <p:txBody>
          <a:bodyPr wrap="square" lIns="0" tIns="0" rIns="0" bIns="0" anchor="t">
            <a:spAutoFit/>
          </a:bodyPr>
          <a:lstStyle/>
          <a:p>
            <a:pPr algn="l">
              <a:lnSpc>
                <a:spcPct val="115000"/>
              </a:lnSpc>
            </a:pPr>
            <a:r>
              <a:rPr sz="1600" b="1" i="0" dirty="0">
                <a:solidFill>
                  <a:srgbClr val="4FC3F7"/>
                </a:solidFill>
                <a:latin typeface="Consolas"/>
              </a:rPr>
              <a:t>repository</a:t>
            </a:r>
            <a:endParaRPr lang="en-US" sz="1600" b="1" i="0" dirty="0">
              <a:solidFill>
                <a:srgbClr val="4FC3F7"/>
              </a:solidFill>
              <a:latin typeface="Consolas"/>
            </a:endParaRPr>
          </a:p>
        </p:txBody>
      </p:sp>
      <p:sp>
        <p:nvSpPr>
          <p:cNvPr id="6" name="TextBox 5"/>
          <p:cNvSpPr txBox="1"/>
          <p:nvPr/>
        </p:nvSpPr>
        <p:spPr>
          <a:xfrm>
            <a:off x="2240280" y="2423308"/>
            <a:ext cx="3611880" cy="549638"/>
          </a:xfrm>
          <a:prstGeom prst="rect">
            <a:avLst/>
          </a:prstGeom>
          <a:noFill/>
        </p:spPr>
        <p:txBody>
          <a:bodyPr wrap="square" lIns="0" tIns="0" rIns="0" bIns="0" anchor="t">
            <a:spAutoFit/>
          </a:bodyPr>
          <a:lstStyle/>
          <a:p>
            <a:pPr algn="l">
              <a:lnSpc>
                <a:spcPct val="115000"/>
              </a:lnSpc>
            </a:pPr>
            <a:r>
              <a:rPr sz="1600" b="0" i="0" dirty="0">
                <a:latin typeface="Calibri"/>
              </a:rPr>
              <a:t>a project's folder, tracked by git, hosted on GitHub</a:t>
            </a:r>
            <a:endParaRPr lang="en-US" sz="1600" b="0" i="0">
              <a:latin typeface="Calibri"/>
              <a:ea typeface="Calibri"/>
              <a:cs typeface="Calibri"/>
            </a:endParaRPr>
          </a:p>
        </p:txBody>
      </p:sp>
      <p:sp>
        <p:nvSpPr>
          <p:cNvPr id="7" name="TextBox 6"/>
          <p:cNvSpPr txBox="1"/>
          <p:nvPr/>
        </p:nvSpPr>
        <p:spPr>
          <a:xfrm>
            <a:off x="548640" y="3421898"/>
            <a:ext cx="1554480" cy="265137"/>
          </a:xfrm>
          <a:prstGeom prst="rect">
            <a:avLst/>
          </a:prstGeom>
          <a:noFill/>
        </p:spPr>
        <p:txBody>
          <a:bodyPr wrap="square" lIns="0" tIns="0" rIns="0" bIns="0" anchor="t">
            <a:spAutoFit/>
          </a:bodyPr>
          <a:lstStyle/>
          <a:p>
            <a:pPr algn="l">
              <a:lnSpc>
                <a:spcPct val="115000"/>
              </a:lnSpc>
            </a:pPr>
            <a:r>
              <a:rPr sz="1600" b="1" i="0" dirty="0">
                <a:solidFill>
                  <a:srgbClr val="4FC3F7"/>
                </a:solidFill>
                <a:latin typeface="Consolas"/>
              </a:rPr>
              <a:t>fork</a:t>
            </a:r>
            <a:endParaRPr lang="en-US" sz="1600" b="1" i="0" dirty="0">
              <a:solidFill>
                <a:srgbClr val="4FC3F7"/>
              </a:solidFill>
              <a:latin typeface="Consolas"/>
            </a:endParaRPr>
          </a:p>
        </p:txBody>
      </p:sp>
      <p:sp>
        <p:nvSpPr>
          <p:cNvPr id="8" name="TextBox 7"/>
          <p:cNvSpPr txBox="1"/>
          <p:nvPr/>
        </p:nvSpPr>
        <p:spPr>
          <a:xfrm>
            <a:off x="2240280" y="3421898"/>
            <a:ext cx="3611880" cy="549638"/>
          </a:xfrm>
          <a:prstGeom prst="rect">
            <a:avLst/>
          </a:prstGeom>
          <a:noFill/>
        </p:spPr>
        <p:txBody>
          <a:bodyPr wrap="square" lIns="0" tIns="0" rIns="0" bIns="0" anchor="t">
            <a:spAutoFit/>
          </a:bodyPr>
          <a:lstStyle/>
          <a:p>
            <a:pPr algn="l">
              <a:lnSpc>
                <a:spcPct val="115000"/>
              </a:lnSpc>
            </a:pPr>
            <a:r>
              <a:rPr sz="1600" b="0" i="0" dirty="0">
                <a:latin typeface="Calibri"/>
              </a:rPr>
              <a:t>your own copy of someone else's repo, linked back to it</a:t>
            </a:r>
            <a:endParaRPr lang="en-US" sz="1600" b="0" i="0">
              <a:latin typeface="Calibri"/>
              <a:ea typeface="Calibri"/>
              <a:cs typeface="Calibri"/>
            </a:endParaRPr>
          </a:p>
        </p:txBody>
      </p:sp>
      <p:sp>
        <p:nvSpPr>
          <p:cNvPr id="9" name="TextBox 8"/>
          <p:cNvSpPr txBox="1"/>
          <p:nvPr/>
        </p:nvSpPr>
        <p:spPr>
          <a:xfrm>
            <a:off x="548640" y="4413090"/>
            <a:ext cx="1554480" cy="265137"/>
          </a:xfrm>
          <a:prstGeom prst="rect">
            <a:avLst/>
          </a:prstGeom>
          <a:noFill/>
        </p:spPr>
        <p:txBody>
          <a:bodyPr wrap="square" lIns="0" tIns="0" rIns="0" bIns="0" anchor="t">
            <a:spAutoFit/>
          </a:bodyPr>
          <a:lstStyle/>
          <a:p>
            <a:pPr algn="l">
              <a:lnSpc>
                <a:spcPct val="115000"/>
              </a:lnSpc>
            </a:pPr>
            <a:r>
              <a:rPr sz="1600" b="1" i="0" dirty="0">
                <a:solidFill>
                  <a:srgbClr val="4FC3F7"/>
                </a:solidFill>
                <a:latin typeface="Consolas"/>
              </a:rPr>
              <a:t>template</a:t>
            </a:r>
            <a:endParaRPr lang="en-US" sz="1600" b="1" i="0" dirty="0">
              <a:solidFill>
                <a:srgbClr val="4FC3F7"/>
              </a:solidFill>
              <a:latin typeface="Consolas"/>
            </a:endParaRPr>
          </a:p>
        </p:txBody>
      </p:sp>
      <p:sp>
        <p:nvSpPr>
          <p:cNvPr id="10" name="TextBox 9"/>
          <p:cNvSpPr txBox="1"/>
          <p:nvPr/>
        </p:nvSpPr>
        <p:spPr>
          <a:xfrm>
            <a:off x="2240280" y="4413090"/>
            <a:ext cx="3611880" cy="549638"/>
          </a:xfrm>
          <a:prstGeom prst="rect">
            <a:avLst/>
          </a:prstGeom>
          <a:noFill/>
        </p:spPr>
        <p:txBody>
          <a:bodyPr wrap="square" lIns="0" tIns="0" rIns="0" bIns="0" anchor="t">
            <a:spAutoFit/>
          </a:bodyPr>
          <a:lstStyle/>
          <a:p>
            <a:pPr algn="l">
              <a:lnSpc>
                <a:spcPct val="115000"/>
              </a:lnSpc>
            </a:pPr>
            <a:r>
              <a:rPr sz="1600" b="0" i="0" dirty="0">
                <a:latin typeface="Calibri"/>
              </a:rPr>
              <a:t>your own copy with a clean history, no link back</a:t>
            </a:r>
            <a:endParaRPr lang="en-US" sz="1600" b="0" i="0">
              <a:latin typeface="Calibri"/>
              <a:ea typeface="Calibri"/>
              <a:cs typeface="Calibri"/>
            </a:endParaRPr>
          </a:p>
        </p:txBody>
      </p:sp>
      <p:sp>
        <p:nvSpPr>
          <p:cNvPr id="11" name="TextBox 10"/>
          <p:cNvSpPr txBox="1"/>
          <p:nvPr/>
        </p:nvSpPr>
        <p:spPr>
          <a:xfrm>
            <a:off x="548640" y="5433874"/>
            <a:ext cx="1554480" cy="265137"/>
          </a:xfrm>
          <a:prstGeom prst="rect">
            <a:avLst/>
          </a:prstGeom>
          <a:noFill/>
        </p:spPr>
        <p:txBody>
          <a:bodyPr wrap="square" lIns="0" tIns="0" rIns="0" bIns="0" anchor="t">
            <a:spAutoFit/>
          </a:bodyPr>
          <a:lstStyle/>
          <a:p>
            <a:pPr algn="l">
              <a:lnSpc>
                <a:spcPct val="115000"/>
              </a:lnSpc>
            </a:pPr>
            <a:r>
              <a:rPr sz="1600" b="1" i="0" dirty="0">
                <a:solidFill>
                  <a:srgbClr val="4FC3F7"/>
                </a:solidFill>
                <a:latin typeface="Consolas"/>
              </a:rPr>
              <a:t>clone</a:t>
            </a:r>
            <a:endParaRPr lang="en-US" sz="1600" b="1" i="0" dirty="0">
              <a:solidFill>
                <a:srgbClr val="4FC3F7"/>
              </a:solidFill>
              <a:latin typeface="Consolas"/>
            </a:endParaRPr>
          </a:p>
        </p:txBody>
      </p:sp>
      <p:sp>
        <p:nvSpPr>
          <p:cNvPr id="12" name="TextBox 11"/>
          <p:cNvSpPr txBox="1"/>
          <p:nvPr/>
        </p:nvSpPr>
        <p:spPr>
          <a:xfrm>
            <a:off x="2240280" y="5433874"/>
            <a:ext cx="3611880" cy="549638"/>
          </a:xfrm>
          <a:prstGeom prst="rect">
            <a:avLst/>
          </a:prstGeom>
          <a:noFill/>
        </p:spPr>
        <p:txBody>
          <a:bodyPr wrap="square" lIns="0" tIns="0" rIns="0" bIns="0" anchor="t">
            <a:spAutoFit/>
          </a:bodyPr>
          <a:lstStyle/>
          <a:p>
            <a:pPr algn="l">
              <a:lnSpc>
                <a:spcPct val="115000"/>
              </a:lnSpc>
            </a:pPr>
            <a:r>
              <a:rPr sz="1600" b="0" i="0" dirty="0">
                <a:latin typeface="Calibri"/>
              </a:rPr>
              <a:t>pulling a repo down to your own computer to work on</a:t>
            </a:r>
            <a:endParaRPr lang="en-US" sz="1600" b="0" i="0">
              <a:latin typeface="Calibri"/>
              <a:ea typeface="Calibri"/>
              <a:cs typeface="Calibri"/>
            </a:endParaRPr>
          </a:p>
        </p:txBody>
      </p:sp>
      <p:pic>
        <p:nvPicPr>
          <p:cNvPr id="13" name="Picture 12" descr="img_code.jpg"/>
          <p:cNvPicPr>
            <a:picLocks noChangeAspect="1"/>
          </p:cNvPicPr>
          <p:nvPr/>
        </p:nvPicPr>
        <p:blipFill>
          <a:blip r:embed="rId2"/>
          <a:srcRect t="17473" b="17473"/>
          <a:stretch>
            <a:fillRect/>
          </a:stretch>
        </p:blipFill>
        <p:spPr>
          <a:xfrm>
            <a:off x="6217920" y="1783080"/>
            <a:ext cx="5394960" cy="2331720"/>
          </a:xfrm>
          <a:prstGeom prst="rect">
            <a:avLst/>
          </a:prstGeom>
        </p:spPr>
      </p:pic>
      <p:sp>
        <p:nvSpPr>
          <p:cNvPr id="14" name="Rectangle 13"/>
          <p:cNvSpPr/>
          <p:nvPr/>
        </p:nvSpPr>
        <p:spPr>
          <a:xfrm>
            <a:off x="6217920" y="1783080"/>
            <a:ext cx="5394960" cy="2331720"/>
          </a:xfrm>
          <a:prstGeom prst="rect">
            <a:avLst/>
          </a:prstGeom>
          <a:noFill/>
          <a:ln w="12700">
            <a:solidFill>
              <a:srgbClr val="2E40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4251960"/>
            <a:ext cx="5394960" cy="1965960"/>
          </a:xfrm>
          <a:prstGeom prst="rect">
            <a:avLst/>
          </a:prstGeom>
          <a:solidFill>
            <a:srgbClr val="060A1C"/>
          </a:solidFill>
          <a:ln w="9525">
            <a:solidFill>
              <a:srgbClr val="2E408A"/>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201168" bIns="146304" rtlCol="0" anchor="ctr"/>
          <a:lstStyle/>
          <a:p>
            <a:pPr algn="ctr">
              <a:lnSpc>
                <a:spcPct val="130000"/>
              </a:lnSpc>
            </a:pPr>
            <a:r>
              <a:rPr sz="1300">
                <a:solidFill>
                  <a:srgbClr val="5C6C9A"/>
                </a:solidFill>
                <a:latin typeface="Consolas"/>
              </a:rPr>
              <a:t># "Use this template" on GitHub, then:</a:t>
            </a:r>
          </a:p>
          <a:p>
            <a:pPr>
              <a:lnSpc>
                <a:spcPct val="130000"/>
              </a:lnSpc>
            </a:pPr>
            <a:r>
              <a:rPr sz="1300">
                <a:solidFill>
                  <a:srgbClr val="D9E8FF"/>
                </a:solidFill>
                <a:latin typeface="Consolas"/>
              </a:rPr>
              <a:t>git clone https://github.com/&lt;you&gt;/vibe-coding-101.git</a:t>
            </a:r>
          </a:p>
          <a:p>
            <a:pPr>
              <a:lnSpc>
                <a:spcPct val="130000"/>
              </a:lnSpc>
            </a:pPr>
            <a:r>
              <a:rPr sz="1300">
                <a:solidFill>
                  <a:srgbClr val="D9E8FF"/>
                </a:solidFill>
                <a:latin typeface="Consolas"/>
              </a:rPr>
              <a:t>cd vibe-coding-101</a:t>
            </a:r>
          </a:p>
          <a:p>
            <a:pPr>
              <a:lnSpc>
                <a:spcPct val="130000"/>
              </a:lnSpc>
            </a:pPr>
            <a:endParaRPr sz="1300">
              <a:solidFill>
                <a:srgbClr val="D9E8FF"/>
              </a:solidFill>
              <a:latin typeface="Consolas"/>
            </a:endParaRPr>
          </a:p>
          <a:p>
            <a:pPr>
              <a:lnSpc>
                <a:spcPct val="130000"/>
              </a:lnSpc>
            </a:pPr>
            <a:r>
              <a:rPr sz="1300">
                <a:solidFill>
                  <a:srgbClr val="D9E8FF"/>
                </a:solidFill>
                <a:latin typeface="Consolas"/>
              </a:rPr>
              <a:t>git add -A</a:t>
            </a:r>
          </a:p>
          <a:p>
            <a:pPr>
              <a:lnSpc>
                <a:spcPct val="130000"/>
              </a:lnSpc>
            </a:pPr>
            <a:r>
              <a:rPr sz="1300">
                <a:solidFill>
                  <a:srgbClr val="D9E8FF"/>
                </a:solidFill>
                <a:latin typeface="Consolas"/>
              </a:rPr>
              <a:t>git commit -m "add the thing"</a:t>
            </a:r>
          </a:p>
          <a:p>
            <a:pPr>
              <a:lnSpc>
                <a:spcPct val="130000"/>
              </a:lnSpc>
            </a:pPr>
            <a:r>
              <a:rPr sz="1300">
                <a:solidFill>
                  <a:srgbClr val="D9E8FF"/>
                </a:solidFill>
                <a:latin typeface="Consolas"/>
              </a:rPr>
              <a:t>git push</a:t>
            </a:r>
          </a:p>
        </p:txBody>
      </p:sp>
      <p:pic>
        <p:nvPicPr>
          <p:cNvPr id="17" name="Picture 16" descr="A black and white cat logo&#10;&#10;AI-generated content may be incorrect.">
            <a:extLst>
              <a:ext uri="{FF2B5EF4-FFF2-40B4-BE49-F238E27FC236}">
                <a16:creationId xmlns:a16="http://schemas.microsoft.com/office/drawing/2014/main" id="{FDE5E4E3-C5F6-6ED4-7562-3B9263CF7A8E}"/>
              </a:ext>
            </a:extLst>
          </p:cNvPr>
          <p:cNvPicPr>
            <a:picLocks noChangeAspect="1"/>
          </p:cNvPicPr>
          <p:nvPr/>
        </p:nvPicPr>
        <p:blipFill>
          <a:blip r:embed="rId3"/>
          <a:stretch>
            <a:fillRect/>
          </a:stretch>
        </p:blipFill>
        <p:spPr>
          <a:xfrm>
            <a:off x="1841138" y="9049"/>
            <a:ext cx="1703788" cy="170462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a:p>
        </p:txBody>
      </p:sp>
      <p:sp>
        <p:nvSpPr>
          <p:cNvPr id="3" name="TextBox 2"/>
          <p:cNvSpPr txBox="1"/>
          <p:nvPr/>
        </p:nvSpPr>
        <p:spPr>
          <a:xfrm>
            <a:off x="548640" y="457200"/>
            <a:ext cx="11094415" cy="215444"/>
          </a:xfrm>
          <a:prstGeom prst="rect">
            <a:avLst/>
          </a:prstGeom>
          <a:noFill/>
        </p:spPr>
        <p:txBody>
          <a:bodyPr wrap="square" lIns="0" tIns="0" rIns="0" bIns="0" anchor="t">
            <a:spAutoFit/>
          </a:bodyPr>
          <a:lstStyle/>
          <a:p>
            <a:pPr>
              <a:lnSpc>
                <a:spcPct val="115000"/>
              </a:lnSpc>
            </a:pPr>
            <a:r>
              <a:rPr lang="en-US" sz="1300" b="1" dirty="0">
                <a:solidFill>
                  <a:srgbClr val="4FC3F7"/>
                </a:solidFill>
                <a:latin typeface="Consolas"/>
              </a:rPr>
              <a:t> </a:t>
            </a:r>
            <a:r>
              <a:rPr sz="1300" b="1" i="0" dirty="0">
                <a:solidFill>
                  <a:srgbClr val="4FC3F7"/>
                </a:solidFill>
                <a:latin typeface="Consolas"/>
              </a:rPr>
              <a:t>THE CLI</a:t>
            </a:r>
            <a:r>
              <a:rPr lang="en-US" sz="1300" b="1" dirty="0">
                <a:solidFill>
                  <a:srgbClr val="4FC3F7"/>
                </a:solidFill>
                <a:latin typeface="Consolas"/>
              </a:rPr>
              <a:t> ( </a:t>
            </a:r>
            <a:r>
              <a:rPr lang="en-US" sz="1300" b="1" dirty="0" err="1">
                <a:solidFill>
                  <a:srgbClr val="4FC3F7"/>
                </a:solidFill>
                <a:latin typeface="Consolas"/>
              </a:rPr>
              <a:t>command_line_interface</a:t>
            </a:r>
            <a:r>
              <a:rPr lang="en-US" sz="1300" b="1" dirty="0">
                <a:solidFill>
                  <a:srgbClr val="4FC3F7"/>
                </a:solidFill>
                <a:latin typeface="Consolas"/>
              </a:rPr>
              <a:t> )</a:t>
            </a:r>
            <a:endParaRPr sz="1300" b="1" i="0" dirty="0" err="1">
              <a:solidFill>
                <a:srgbClr val="4FC3F7"/>
              </a:solidFill>
              <a:latin typeface="Consolas"/>
            </a:endParaRPr>
          </a:p>
        </p:txBody>
      </p:sp>
      <p:sp>
        <p:nvSpPr>
          <p:cNvPr id="4" name="TextBox 3"/>
          <p:cNvSpPr txBox="1"/>
          <p:nvPr/>
        </p:nvSpPr>
        <p:spPr>
          <a:xfrm>
            <a:off x="615223" y="1216389"/>
            <a:ext cx="5303520" cy="994311"/>
          </a:xfrm>
          <a:prstGeom prst="rect">
            <a:avLst/>
          </a:prstGeom>
          <a:noFill/>
        </p:spPr>
        <p:txBody>
          <a:bodyPr wrap="square" lIns="0" tIns="0" rIns="0" bIns="0" anchor="t">
            <a:spAutoFit/>
          </a:bodyPr>
          <a:lstStyle/>
          <a:p>
            <a:pPr algn="l">
              <a:lnSpc>
                <a:spcPct val="105000"/>
              </a:lnSpc>
            </a:pPr>
            <a:r>
              <a:rPr sz="3200" b="1" i="0" dirty="0">
                <a:solidFill>
                  <a:schemeClr val="tx2">
                    <a:lumMod val="60000"/>
                    <a:lumOff val="40000"/>
                  </a:schemeClr>
                </a:solidFill>
                <a:latin typeface="Century Gothic"/>
              </a:rPr>
              <a:t>The terminal is where the agent actually works</a:t>
            </a:r>
            <a:endParaRPr lang="en-US" sz="3200" b="1" i="0" dirty="0">
              <a:solidFill>
                <a:schemeClr val="tx2">
                  <a:lumMod val="60000"/>
                  <a:lumOff val="40000"/>
                </a:schemeClr>
              </a:solidFill>
              <a:latin typeface="Century Gothic"/>
            </a:endParaRPr>
          </a:p>
        </p:txBody>
      </p:sp>
      <p:sp>
        <p:nvSpPr>
          <p:cNvPr id="5" name="TextBox 4"/>
          <p:cNvSpPr txBox="1"/>
          <p:nvPr/>
        </p:nvSpPr>
        <p:spPr>
          <a:xfrm>
            <a:off x="615223" y="2837599"/>
            <a:ext cx="5303520" cy="1176091"/>
          </a:xfrm>
          <a:prstGeom prst="rect">
            <a:avLst/>
          </a:prstGeom>
          <a:noFill/>
        </p:spPr>
        <p:txBody>
          <a:bodyPr wrap="square" lIns="0" tIns="0" rIns="0" bIns="0" anchor="t">
            <a:spAutoFit/>
          </a:bodyPr>
          <a:lstStyle/>
          <a:p>
            <a:pPr algn="l">
              <a:lnSpc>
                <a:spcPct val="130000"/>
              </a:lnSpc>
            </a:pPr>
            <a:r>
              <a:rPr sz="1500" b="0" i="0" dirty="0">
                <a:latin typeface="Calibri"/>
              </a:rPr>
              <a:t>A terminal just runs programs by name instead of by clicking icons. Point it at your project folder, and an agent command starts it right there, reading and editing real files instead of pasting code in and out of a chat window.</a:t>
            </a:r>
            <a:endParaRPr lang="en-US" sz="1500" b="0" i="0" dirty="0">
              <a:latin typeface="Calibri"/>
              <a:ea typeface="Calibri"/>
              <a:cs typeface="Calibri"/>
            </a:endParaRPr>
          </a:p>
        </p:txBody>
      </p:sp>
      <p:sp>
        <p:nvSpPr>
          <p:cNvPr id="6" name="Rectangle 5"/>
          <p:cNvSpPr/>
          <p:nvPr/>
        </p:nvSpPr>
        <p:spPr>
          <a:xfrm>
            <a:off x="6247512" y="411036"/>
            <a:ext cx="5394960" cy="3291840"/>
          </a:xfrm>
          <a:prstGeom prst="rect">
            <a:avLst/>
          </a:prstGeom>
          <a:solidFill>
            <a:srgbClr val="060A1C"/>
          </a:solidFill>
          <a:ln w="9525">
            <a:solidFill>
              <a:srgbClr val="2E408A"/>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201168" bIns="146304" rtlCol="0" anchor="ctr"/>
          <a:lstStyle/>
          <a:p>
            <a:pPr algn="ctr">
              <a:lnSpc>
                <a:spcPct val="130000"/>
              </a:lnSpc>
            </a:pPr>
            <a:r>
              <a:rPr sz="1300">
                <a:solidFill>
                  <a:srgbClr val="D9E8FF"/>
                </a:solidFill>
                <a:latin typeface="Consolas"/>
              </a:rPr>
              <a:t>cd vibe-coding-101</a:t>
            </a:r>
          </a:p>
          <a:p>
            <a:pPr>
              <a:lnSpc>
                <a:spcPct val="130000"/>
              </a:lnSpc>
            </a:pPr>
            <a:endParaRPr sz="1300">
              <a:solidFill>
                <a:srgbClr val="D9E8FF"/>
              </a:solidFill>
              <a:latin typeface="Consolas"/>
            </a:endParaRPr>
          </a:p>
          <a:p>
            <a:pPr>
              <a:lnSpc>
                <a:spcPct val="130000"/>
              </a:lnSpc>
            </a:pPr>
            <a:r>
              <a:rPr sz="1300">
                <a:solidFill>
                  <a:srgbClr val="5C6C9A"/>
                </a:solidFill>
                <a:latin typeface="Consolas"/>
              </a:rPr>
              <a:t># whichever tool you've got:</a:t>
            </a:r>
          </a:p>
          <a:p>
            <a:pPr>
              <a:lnSpc>
                <a:spcPct val="130000"/>
              </a:lnSpc>
            </a:pPr>
            <a:r>
              <a:rPr sz="1300">
                <a:solidFill>
                  <a:srgbClr val="D9E8FF"/>
                </a:solidFill>
                <a:latin typeface="Consolas"/>
              </a:rPr>
              <a:t>claude        # Claude Code</a:t>
            </a:r>
          </a:p>
          <a:p>
            <a:pPr>
              <a:lnSpc>
                <a:spcPct val="130000"/>
              </a:lnSpc>
            </a:pPr>
            <a:r>
              <a:rPr sz="1300">
                <a:solidFill>
                  <a:srgbClr val="D9E8FF"/>
                </a:solidFill>
                <a:latin typeface="Consolas"/>
              </a:rPr>
              <a:t>copilot       # GitHub Copilot CLI</a:t>
            </a:r>
          </a:p>
          <a:p>
            <a:pPr>
              <a:lnSpc>
                <a:spcPct val="130000"/>
              </a:lnSpc>
            </a:pPr>
            <a:r>
              <a:rPr sz="1300">
                <a:solidFill>
                  <a:srgbClr val="D9E8FF"/>
                </a:solidFill>
                <a:latin typeface="Consolas"/>
              </a:rPr>
              <a:t>codex         # ChatGPT / Codex CLI</a:t>
            </a:r>
          </a:p>
          <a:p>
            <a:pPr>
              <a:lnSpc>
                <a:spcPct val="130000"/>
              </a:lnSpc>
            </a:pPr>
            <a:r>
              <a:rPr sz="1300">
                <a:solidFill>
                  <a:srgbClr val="D9E8FF"/>
                </a:solidFill>
                <a:latin typeface="Consolas"/>
              </a:rPr>
              <a:t>agy           # Google Antigravity</a:t>
            </a:r>
          </a:p>
          <a:p>
            <a:pPr>
              <a:lnSpc>
                <a:spcPct val="130000"/>
              </a:lnSpc>
            </a:pPr>
            <a:endParaRPr sz="1300">
              <a:solidFill>
                <a:srgbClr val="D9E8FF"/>
              </a:solidFill>
              <a:latin typeface="Consolas"/>
            </a:endParaRPr>
          </a:p>
          <a:p>
            <a:pPr>
              <a:lnSpc>
                <a:spcPct val="130000"/>
              </a:lnSpc>
            </a:pPr>
            <a:r>
              <a:rPr sz="1300">
                <a:solidFill>
                  <a:srgbClr val="D9E8FF"/>
                </a:solidFill>
                <a:latin typeface="Consolas"/>
              </a:rPr>
              <a:t>&gt; "add a login page with email + password"</a:t>
            </a:r>
          </a:p>
        </p:txBody>
      </p:sp>
      <p:pic>
        <p:nvPicPr>
          <p:cNvPr id="7" name="Picture 6">
            <a:extLst>
              <a:ext uri="{FF2B5EF4-FFF2-40B4-BE49-F238E27FC236}">
                <a16:creationId xmlns:a16="http://schemas.microsoft.com/office/drawing/2014/main" id="{B1553408-9600-20D4-F7B4-C7CC6F108EB4}"/>
              </a:ext>
            </a:extLst>
          </p:cNvPr>
          <p:cNvPicPr>
            <a:picLocks noChangeAspect="1"/>
          </p:cNvPicPr>
          <p:nvPr/>
        </p:nvPicPr>
        <p:blipFill>
          <a:blip r:embed="rId2"/>
          <a:stretch>
            <a:fillRect/>
          </a:stretch>
        </p:blipFill>
        <p:spPr>
          <a:xfrm>
            <a:off x="4606632" y="3951903"/>
            <a:ext cx="7210425" cy="26384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1094415" cy="320040"/>
          </a:xfrm>
          <a:prstGeom prst="rect">
            <a:avLst/>
          </a:prstGeom>
          <a:noFill/>
        </p:spPr>
        <p:txBody>
          <a:bodyPr wrap="square" lIns="0" tIns="0" rIns="0" bIns="0" anchor="t">
            <a:spAutoFit/>
          </a:bodyPr>
          <a:lstStyle/>
          <a:p>
            <a:pPr algn="l">
              <a:lnSpc>
                <a:spcPct val="115000"/>
              </a:lnSpc>
            </a:pPr>
            <a:r>
              <a:rPr sz="1300" b="1" i="0">
                <a:solidFill>
                  <a:srgbClr val="4FC3F7"/>
                </a:solidFill>
                <a:latin typeface="Consolas"/>
              </a:rPr>
              <a:t>02 . THE CLI, CONTINUED</a:t>
            </a:r>
          </a:p>
        </p:txBody>
      </p:sp>
      <p:sp>
        <p:nvSpPr>
          <p:cNvPr id="4" name="TextBox 3"/>
          <p:cNvSpPr txBox="1"/>
          <p:nvPr/>
        </p:nvSpPr>
        <p:spPr>
          <a:xfrm>
            <a:off x="548640" y="868680"/>
            <a:ext cx="11094415" cy="477247"/>
          </a:xfrm>
          <a:prstGeom prst="rect">
            <a:avLst/>
          </a:prstGeom>
          <a:noFill/>
        </p:spPr>
        <p:txBody>
          <a:bodyPr wrap="square" lIns="0" tIns="0" rIns="0" bIns="0" anchor="t">
            <a:spAutoFit/>
          </a:bodyPr>
          <a:lstStyle/>
          <a:p>
            <a:pPr>
              <a:lnSpc>
                <a:spcPct val="105000"/>
              </a:lnSpc>
            </a:pPr>
            <a:r>
              <a:rPr sz="3200" b="1" i="0" dirty="0">
                <a:latin typeface="Century Gothic"/>
              </a:rPr>
              <a:t>This </a:t>
            </a:r>
            <a:r>
              <a:rPr lang="en-US" sz="3200" b="1" dirty="0">
                <a:latin typeface="Century Gothic"/>
              </a:rPr>
              <a:t>meeting doesn't</a:t>
            </a:r>
            <a:r>
              <a:rPr sz="3200" b="1" i="0" dirty="0">
                <a:latin typeface="Century Gothic"/>
              </a:rPr>
              <a:t> require a specific tool</a:t>
            </a:r>
            <a:endParaRPr lang="en-US" sz="3200" b="1" i="0" dirty="0">
              <a:latin typeface="Century Gothic"/>
            </a:endParaRPr>
          </a:p>
        </p:txBody>
      </p:sp>
      <p:sp>
        <p:nvSpPr>
          <p:cNvPr id="5" name="TextBox 4"/>
          <p:cNvSpPr txBox="1"/>
          <p:nvPr/>
        </p:nvSpPr>
        <p:spPr>
          <a:xfrm>
            <a:off x="548640" y="1828800"/>
            <a:ext cx="9966960" cy="614271"/>
          </a:xfrm>
          <a:prstGeom prst="rect">
            <a:avLst/>
          </a:prstGeom>
          <a:noFill/>
        </p:spPr>
        <p:txBody>
          <a:bodyPr wrap="square" lIns="0" tIns="0" rIns="0" bIns="0" anchor="t">
            <a:spAutoFit/>
          </a:bodyPr>
          <a:lstStyle/>
          <a:p>
            <a:pPr algn="l">
              <a:lnSpc>
                <a:spcPct val="130000"/>
              </a:lnSpc>
            </a:pPr>
            <a:r>
              <a:rPr sz="1600" b="0" i="0" dirty="0">
                <a:solidFill>
                  <a:schemeClr val="tx2"/>
                </a:solidFill>
                <a:latin typeface="Calibri"/>
              </a:rPr>
              <a:t>The instructions live in AGENTS.md, a cross-tool standard now read natively by Copilot, Cursor, Codex, Windsurf, Aider, Zed, and Claude Code. Use whatever you've already got.</a:t>
            </a:r>
            <a:endParaRPr lang="en-US" sz="1600" b="0" i="0" dirty="0">
              <a:solidFill>
                <a:schemeClr val="tx2"/>
              </a:solidFill>
              <a:latin typeface="Calibri"/>
              <a:ea typeface="Calibri"/>
              <a:cs typeface="Calibri"/>
            </a:endParaRPr>
          </a:p>
        </p:txBody>
      </p:sp>
      <p:sp>
        <p:nvSpPr>
          <p:cNvPr id="6" name="Rectangle 5"/>
          <p:cNvSpPr/>
          <p:nvPr/>
        </p:nvSpPr>
        <p:spPr>
          <a:xfrm>
            <a:off x="548640" y="2743200"/>
            <a:ext cx="4937760" cy="1965960"/>
          </a:xfrm>
          <a:prstGeom prst="rect">
            <a:avLst/>
          </a:prstGeom>
          <a:solidFill>
            <a:srgbClr val="121C47"/>
          </a:solidFill>
          <a:ln w="9525">
            <a:solidFill>
              <a:srgbClr val="2E40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 y="2926080"/>
            <a:ext cx="539496" cy="292608"/>
          </a:xfrm>
          <a:prstGeom prst="roundRect">
            <a:avLst>
              <a:gd name="adj" fmla="val 50000"/>
            </a:avLst>
          </a:prstGeom>
          <a:solidFill>
            <a:srgbClr val="2E40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4FC3F7"/>
                </a:solidFill>
                <a:latin typeface="Consolas"/>
              </a:rPr>
              <a:t>FREE</a:t>
            </a:r>
          </a:p>
        </p:txBody>
      </p:sp>
      <p:sp>
        <p:nvSpPr>
          <p:cNvPr id="8" name="TextBox 7"/>
          <p:cNvSpPr txBox="1"/>
          <p:nvPr/>
        </p:nvSpPr>
        <p:spPr>
          <a:xfrm>
            <a:off x="777240" y="3337560"/>
            <a:ext cx="4480560" cy="457200"/>
          </a:xfrm>
          <a:prstGeom prst="rect">
            <a:avLst/>
          </a:prstGeom>
          <a:noFill/>
        </p:spPr>
        <p:txBody>
          <a:bodyPr wrap="square" lIns="0" tIns="0" rIns="0" bIns="0" anchor="t">
            <a:spAutoFit/>
          </a:bodyPr>
          <a:lstStyle/>
          <a:p>
            <a:pPr algn="l">
              <a:lnSpc>
                <a:spcPct val="115000"/>
              </a:lnSpc>
            </a:pPr>
            <a:r>
              <a:rPr sz="1700" b="1" i="0">
                <a:solidFill>
                  <a:srgbClr val="FFFFFF"/>
                </a:solidFill>
                <a:latin typeface="Century Gothic"/>
              </a:rPr>
              <a:t>GitHub Copilot</a:t>
            </a:r>
          </a:p>
        </p:txBody>
      </p:sp>
      <p:sp>
        <p:nvSpPr>
          <p:cNvPr id="9" name="TextBox 8"/>
          <p:cNvSpPr txBox="1"/>
          <p:nvPr/>
        </p:nvSpPr>
        <p:spPr>
          <a:xfrm>
            <a:off x="777240" y="3840480"/>
            <a:ext cx="4480560" cy="594360"/>
          </a:xfrm>
          <a:prstGeom prst="rect">
            <a:avLst/>
          </a:prstGeom>
          <a:noFill/>
        </p:spPr>
        <p:txBody>
          <a:bodyPr wrap="square" lIns="0" tIns="0" rIns="0" bIns="0" anchor="t">
            <a:spAutoFit/>
          </a:bodyPr>
          <a:lstStyle/>
          <a:p>
            <a:pPr algn="l">
              <a:lnSpc>
                <a:spcPct val="125000"/>
              </a:lnSpc>
            </a:pPr>
            <a:r>
              <a:rPr sz="1250" b="0" i="0">
                <a:solidFill>
                  <a:srgbClr val="AFBCE6"/>
                </a:solidFill>
                <a:latin typeface="Calibri"/>
              </a:rPr>
              <a:t>Free tier for everyone. Free Copilot Pro for students via the GitHub Student Developer Pack.</a:t>
            </a:r>
          </a:p>
        </p:txBody>
      </p:sp>
      <p:sp>
        <p:nvSpPr>
          <p:cNvPr id="10" name="Rectangle 9"/>
          <p:cNvSpPr/>
          <p:nvPr/>
        </p:nvSpPr>
        <p:spPr>
          <a:xfrm>
            <a:off x="5760720" y="2743200"/>
            <a:ext cx="4937760" cy="1965960"/>
          </a:xfrm>
          <a:prstGeom prst="rect">
            <a:avLst/>
          </a:prstGeom>
          <a:solidFill>
            <a:srgbClr val="121C47"/>
          </a:solidFill>
          <a:ln w="9525">
            <a:solidFill>
              <a:srgbClr val="2E40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989320" y="2926080"/>
            <a:ext cx="1243584" cy="292608"/>
          </a:xfrm>
          <a:prstGeom prst="roundRect">
            <a:avLst>
              <a:gd name="adj" fmla="val 50000"/>
            </a:avLst>
          </a:prstGeom>
          <a:solidFill>
            <a:srgbClr val="2722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7C6CF0"/>
                </a:solidFill>
                <a:latin typeface="Consolas"/>
              </a:rPr>
              <a:t>FREE (BETA)</a:t>
            </a:r>
          </a:p>
        </p:txBody>
      </p:sp>
      <p:sp>
        <p:nvSpPr>
          <p:cNvPr id="12" name="TextBox 11"/>
          <p:cNvSpPr txBox="1"/>
          <p:nvPr/>
        </p:nvSpPr>
        <p:spPr>
          <a:xfrm>
            <a:off x="5989320" y="3337560"/>
            <a:ext cx="4480560" cy="457200"/>
          </a:xfrm>
          <a:prstGeom prst="rect">
            <a:avLst/>
          </a:prstGeom>
          <a:noFill/>
        </p:spPr>
        <p:txBody>
          <a:bodyPr wrap="square" lIns="0" tIns="0" rIns="0" bIns="0" anchor="t">
            <a:spAutoFit/>
          </a:bodyPr>
          <a:lstStyle/>
          <a:p>
            <a:pPr algn="l">
              <a:lnSpc>
                <a:spcPct val="115000"/>
              </a:lnSpc>
            </a:pPr>
            <a:r>
              <a:rPr sz="1700" b="1" i="0">
                <a:solidFill>
                  <a:srgbClr val="FFFFFF"/>
                </a:solidFill>
                <a:latin typeface="Century Gothic"/>
              </a:rPr>
              <a:t>Google Antigravity</a:t>
            </a:r>
          </a:p>
        </p:txBody>
      </p:sp>
      <p:sp>
        <p:nvSpPr>
          <p:cNvPr id="13" name="TextBox 12"/>
          <p:cNvSpPr txBox="1"/>
          <p:nvPr/>
        </p:nvSpPr>
        <p:spPr>
          <a:xfrm>
            <a:off x="5989320" y="3840480"/>
            <a:ext cx="4480560" cy="594360"/>
          </a:xfrm>
          <a:prstGeom prst="rect">
            <a:avLst/>
          </a:prstGeom>
          <a:noFill/>
        </p:spPr>
        <p:txBody>
          <a:bodyPr wrap="square" lIns="0" tIns="0" rIns="0" bIns="0" anchor="t">
            <a:spAutoFit/>
          </a:bodyPr>
          <a:lstStyle/>
          <a:p>
            <a:pPr algn="l">
              <a:lnSpc>
                <a:spcPct val="125000"/>
              </a:lnSpc>
            </a:pPr>
            <a:r>
              <a:rPr sz="1250" b="0" i="0">
                <a:solidFill>
                  <a:srgbClr val="AFBCE6"/>
                </a:solidFill>
                <a:latin typeface="Calibri"/>
              </a:rPr>
              <a:t>Free in public beta for personal use. An agentic IDE built around Gemini models.</a:t>
            </a:r>
          </a:p>
        </p:txBody>
      </p:sp>
      <p:sp>
        <p:nvSpPr>
          <p:cNvPr id="14" name="TextBox 13"/>
          <p:cNvSpPr txBox="1"/>
          <p:nvPr/>
        </p:nvSpPr>
        <p:spPr>
          <a:xfrm>
            <a:off x="548640" y="4937760"/>
            <a:ext cx="9966960" cy="463845"/>
          </a:xfrm>
          <a:prstGeom prst="rect">
            <a:avLst/>
          </a:prstGeom>
          <a:noFill/>
        </p:spPr>
        <p:txBody>
          <a:bodyPr wrap="square" lIns="0" tIns="0" rIns="0" bIns="0" anchor="t">
            <a:spAutoFit/>
          </a:bodyPr>
          <a:lstStyle/>
          <a:p>
            <a:pPr algn="l">
              <a:lnSpc>
                <a:spcPct val="115000"/>
              </a:lnSpc>
            </a:pPr>
            <a:r>
              <a:rPr sz="1350" b="0" i="1" dirty="0">
                <a:solidFill>
                  <a:schemeClr val="tx2"/>
                </a:solidFill>
                <a:latin typeface="Calibri"/>
              </a:rPr>
              <a:t>Have Claude Code, Cursor, or something else through school or work? Use it. Nothing here depends on a specific tool. Full comparison in docs/tooling.md.</a:t>
            </a:r>
            <a:endParaRPr lang="en-US" sz="1350" b="0" i="1" dirty="0">
              <a:solidFill>
                <a:schemeClr val="tx2"/>
              </a:solidFill>
              <a:latin typeface="Calibri"/>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1094415" cy="215444"/>
          </a:xfrm>
          <a:prstGeom prst="rect">
            <a:avLst/>
          </a:prstGeom>
          <a:noFill/>
        </p:spPr>
        <p:txBody>
          <a:bodyPr wrap="square" lIns="0" tIns="0" rIns="0" bIns="0" anchor="t">
            <a:spAutoFit/>
          </a:bodyPr>
          <a:lstStyle/>
          <a:p>
            <a:pPr>
              <a:lnSpc>
                <a:spcPct val="115000"/>
              </a:lnSpc>
            </a:pPr>
            <a:r>
              <a:rPr sz="1300" b="1" i="0" dirty="0">
                <a:solidFill>
                  <a:srgbClr val="4FC3F7"/>
                </a:solidFill>
                <a:latin typeface="Consolas"/>
              </a:rPr>
              <a:t>04 . SKILLS</a:t>
            </a:r>
            <a:r>
              <a:rPr lang="en-US" sz="1300" b="1" dirty="0">
                <a:solidFill>
                  <a:srgbClr val="4FC3F7"/>
                </a:solidFill>
                <a:latin typeface="Consolas"/>
              </a:rPr>
              <a:t> and .MD</a:t>
            </a:r>
            <a:endParaRPr sz="1300" b="1" i="0" dirty="0">
              <a:solidFill>
                <a:srgbClr val="4FC3F7"/>
              </a:solidFill>
              <a:latin typeface="Consolas"/>
            </a:endParaRPr>
          </a:p>
        </p:txBody>
      </p:sp>
      <p:sp>
        <p:nvSpPr>
          <p:cNvPr id="4" name="TextBox 3"/>
          <p:cNvSpPr txBox="1"/>
          <p:nvPr/>
        </p:nvSpPr>
        <p:spPr>
          <a:xfrm>
            <a:off x="548640" y="868680"/>
            <a:ext cx="5303520" cy="1188720"/>
          </a:xfrm>
          <a:prstGeom prst="rect">
            <a:avLst/>
          </a:prstGeom>
          <a:noFill/>
        </p:spPr>
        <p:txBody>
          <a:bodyPr wrap="square" lIns="0" tIns="0" rIns="0" bIns="0" anchor="t">
            <a:spAutoFit/>
          </a:bodyPr>
          <a:lstStyle/>
          <a:p>
            <a:pPr algn="l">
              <a:lnSpc>
                <a:spcPct val="105000"/>
              </a:lnSpc>
            </a:pPr>
            <a:r>
              <a:rPr sz="3200" b="1" i="0">
                <a:solidFill>
                  <a:srgbClr val="FFFFFF"/>
                </a:solidFill>
                <a:latin typeface="Century Gothic"/>
              </a:rPr>
              <a:t>Teaching the agent your workflow, once</a:t>
            </a:r>
          </a:p>
        </p:txBody>
      </p:sp>
      <p:sp>
        <p:nvSpPr>
          <p:cNvPr id="5" name="TextBox 4"/>
          <p:cNvSpPr txBox="1"/>
          <p:nvPr/>
        </p:nvSpPr>
        <p:spPr>
          <a:xfrm>
            <a:off x="393280" y="1155577"/>
            <a:ext cx="5303520" cy="1568122"/>
          </a:xfrm>
          <a:prstGeom prst="rect">
            <a:avLst/>
          </a:prstGeom>
          <a:noFill/>
        </p:spPr>
        <p:txBody>
          <a:bodyPr wrap="square" lIns="0" tIns="0" rIns="0" bIns="0" anchor="t">
            <a:spAutoFit/>
          </a:bodyPr>
          <a:lstStyle/>
          <a:p>
            <a:pPr algn="l">
              <a:lnSpc>
                <a:spcPct val="130000"/>
              </a:lnSpc>
            </a:pPr>
            <a:r>
              <a:rPr sz="2000" b="0" i="0" dirty="0">
                <a:latin typeface="Calibri"/>
              </a:rPr>
              <a:t>A skill is a small file, usually SKILL.md, that tells the agent how to behave in a specific situation: a rule, a persona, a checklist. Install it once instead of re-explaining it every session.</a:t>
            </a:r>
            <a:endParaRPr lang="en-US" sz="2000" b="0" i="0">
              <a:latin typeface="Calibri"/>
              <a:ea typeface="Calibri"/>
              <a:cs typeface="Calibri"/>
            </a:endParaRPr>
          </a:p>
        </p:txBody>
      </p:sp>
      <p:sp>
        <p:nvSpPr>
          <p:cNvPr id="6" name="TextBox 5"/>
          <p:cNvSpPr txBox="1"/>
          <p:nvPr/>
        </p:nvSpPr>
        <p:spPr>
          <a:xfrm>
            <a:off x="393281" y="3137812"/>
            <a:ext cx="5303520" cy="216534"/>
          </a:xfrm>
          <a:prstGeom prst="rect">
            <a:avLst/>
          </a:prstGeom>
          <a:noFill/>
        </p:spPr>
        <p:txBody>
          <a:bodyPr wrap="square" lIns="0" tIns="0" rIns="0" bIns="0" anchor="t">
            <a:spAutoFit/>
          </a:bodyPr>
          <a:lstStyle/>
          <a:p>
            <a:pPr>
              <a:lnSpc>
                <a:spcPct val="114999"/>
              </a:lnSpc>
            </a:pPr>
            <a:r>
              <a:rPr lang="en-US" sz="1300" i="1" dirty="0">
                <a:solidFill>
                  <a:srgbClr val="AFBCE6"/>
                </a:solidFill>
                <a:latin typeface="Calibri"/>
              </a:rPr>
              <a:t>Skills provided in next slides</a:t>
            </a:r>
            <a:endParaRPr lang="en-US" dirty="0"/>
          </a:p>
        </p:txBody>
      </p:sp>
      <p:pic>
        <p:nvPicPr>
          <p:cNvPr id="8" name="Picture 7">
            <a:extLst>
              <a:ext uri="{FF2B5EF4-FFF2-40B4-BE49-F238E27FC236}">
                <a16:creationId xmlns:a16="http://schemas.microsoft.com/office/drawing/2014/main" id="{66E48E3F-6447-0727-0E4B-C6FAE7C6ED88}"/>
              </a:ext>
            </a:extLst>
          </p:cNvPr>
          <p:cNvPicPr>
            <a:picLocks noChangeAspect="1"/>
          </p:cNvPicPr>
          <p:nvPr/>
        </p:nvPicPr>
        <p:blipFill>
          <a:blip r:embed="rId2"/>
          <a:stretch>
            <a:fillRect/>
          </a:stretch>
        </p:blipFill>
        <p:spPr>
          <a:xfrm>
            <a:off x="6767605" y="872461"/>
            <a:ext cx="3983390" cy="345590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FFFFF"/>
              </a:solidFill>
            </a:endParaRPr>
          </a:p>
        </p:txBody>
      </p:sp>
      <p:sp>
        <p:nvSpPr>
          <p:cNvPr id="3" name="TextBox 2"/>
          <p:cNvSpPr txBox="1"/>
          <p:nvPr/>
        </p:nvSpPr>
        <p:spPr>
          <a:xfrm>
            <a:off x="548640" y="457200"/>
            <a:ext cx="11094415" cy="320040"/>
          </a:xfrm>
          <a:prstGeom prst="rect">
            <a:avLst/>
          </a:prstGeom>
          <a:noFill/>
        </p:spPr>
        <p:txBody>
          <a:bodyPr wrap="square" lIns="0" tIns="0" rIns="0" bIns="0" anchor="t">
            <a:spAutoFit/>
          </a:bodyPr>
          <a:lstStyle/>
          <a:p>
            <a:pPr algn="l">
              <a:lnSpc>
                <a:spcPct val="115000"/>
              </a:lnSpc>
            </a:pPr>
            <a:r>
              <a:rPr sz="1300" b="1" i="0">
                <a:solidFill>
                  <a:srgbClr val="4FC3F7"/>
                </a:solidFill>
                <a:latin typeface="Consolas"/>
              </a:rPr>
              <a:t>04 . SKILLS, CONTINUED</a:t>
            </a:r>
          </a:p>
        </p:txBody>
      </p:sp>
      <p:sp>
        <p:nvSpPr>
          <p:cNvPr id="4" name="TextBox 3"/>
          <p:cNvSpPr txBox="1"/>
          <p:nvPr/>
        </p:nvSpPr>
        <p:spPr>
          <a:xfrm>
            <a:off x="548640" y="868680"/>
            <a:ext cx="11094415" cy="477247"/>
          </a:xfrm>
          <a:prstGeom prst="rect">
            <a:avLst/>
          </a:prstGeom>
          <a:noFill/>
        </p:spPr>
        <p:txBody>
          <a:bodyPr wrap="square" lIns="0" tIns="0" rIns="0" bIns="0" anchor="t">
            <a:spAutoFit/>
          </a:bodyPr>
          <a:lstStyle/>
          <a:p>
            <a:pPr algn="l">
              <a:lnSpc>
                <a:spcPct val="105000"/>
              </a:lnSpc>
            </a:pPr>
            <a:r>
              <a:rPr sz="3200" b="1" i="0" dirty="0">
                <a:latin typeface="Century Gothic"/>
              </a:rPr>
              <a:t>Good prompt, bad prompt</a:t>
            </a:r>
            <a:endParaRPr lang="en-US" sz="3200" b="1" i="0" dirty="0">
              <a:latin typeface="Century Gothic"/>
            </a:endParaRPr>
          </a:p>
        </p:txBody>
      </p:sp>
      <p:sp>
        <p:nvSpPr>
          <p:cNvPr id="5" name="TextBox 4"/>
          <p:cNvSpPr txBox="1"/>
          <p:nvPr/>
        </p:nvSpPr>
        <p:spPr>
          <a:xfrm>
            <a:off x="548640" y="1783080"/>
            <a:ext cx="9966960" cy="575927"/>
          </a:xfrm>
          <a:prstGeom prst="rect">
            <a:avLst/>
          </a:prstGeom>
          <a:noFill/>
        </p:spPr>
        <p:txBody>
          <a:bodyPr wrap="square" lIns="0" tIns="0" rIns="0" bIns="0" anchor="t">
            <a:spAutoFit/>
          </a:bodyPr>
          <a:lstStyle/>
          <a:p>
            <a:pPr algn="l">
              <a:lnSpc>
                <a:spcPct val="130000"/>
              </a:lnSpc>
            </a:pPr>
            <a:r>
              <a:rPr sz="1500" b="0" i="0" dirty="0">
                <a:solidFill>
                  <a:srgbClr val="00B0F0"/>
                </a:solidFill>
                <a:latin typeface="Calibri"/>
              </a:rPr>
              <a:t>An agent fills gaps you leave with guesses. A good prompt names where, states the constraint, and states how you'll know it worked.</a:t>
            </a:r>
            <a:endParaRPr lang="en-US" sz="1500" b="0" i="0" dirty="0">
              <a:solidFill>
                <a:srgbClr val="00B0F0"/>
              </a:solidFill>
              <a:latin typeface="Calibri"/>
              <a:ea typeface="Calibri"/>
              <a:cs typeface="Calibri"/>
            </a:endParaRPr>
          </a:p>
        </p:txBody>
      </p:sp>
      <p:sp>
        <p:nvSpPr>
          <p:cNvPr id="6" name="Rectangle 5"/>
          <p:cNvSpPr/>
          <p:nvPr/>
        </p:nvSpPr>
        <p:spPr>
          <a:xfrm>
            <a:off x="548640" y="2606040"/>
            <a:ext cx="4937760" cy="2651760"/>
          </a:xfrm>
          <a:prstGeom prst="rect">
            <a:avLst/>
          </a:prstGeom>
          <a:solidFill>
            <a:srgbClr val="121C47"/>
          </a:solidFill>
          <a:ln w="9525">
            <a:solidFill>
              <a:srgbClr val="2E40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 y="2788920"/>
            <a:ext cx="438912" cy="292608"/>
          </a:xfrm>
          <a:prstGeom prst="roundRect">
            <a:avLst>
              <a:gd name="adj" fmla="val 50000"/>
            </a:avLst>
          </a:prstGeom>
          <a:solidFill>
            <a:srgbClr val="2722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7C6CF0"/>
                </a:solidFill>
                <a:latin typeface="Consolas"/>
              </a:rPr>
              <a:t>BAD</a:t>
            </a:r>
          </a:p>
        </p:txBody>
      </p:sp>
      <p:sp>
        <p:nvSpPr>
          <p:cNvPr id="8" name="TextBox 7"/>
          <p:cNvSpPr txBox="1"/>
          <p:nvPr/>
        </p:nvSpPr>
        <p:spPr>
          <a:xfrm>
            <a:off x="777240" y="3200400"/>
            <a:ext cx="4480560" cy="457200"/>
          </a:xfrm>
          <a:prstGeom prst="rect">
            <a:avLst/>
          </a:prstGeom>
          <a:noFill/>
        </p:spPr>
        <p:txBody>
          <a:bodyPr wrap="square" lIns="0" tIns="0" rIns="0" bIns="0" anchor="t">
            <a:spAutoFit/>
          </a:bodyPr>
          <a:lstStyle/>
          <a:p>
            <a:pPr algn="l">
              <a:lnSpc>
                <a:spcPct val="115000"/>
              </a:lnSpc>
            </a:pPr>
            <a:r>
              <a:rPr sz="1700" b="1" i="0">
                <a:solidFill>
                  <a:srgbClr val="FFFFFF"/>
                </a:solidFill>
                <a:latin typeface="Century Gothic"/>
              </a:rPr>
              <a:t>"make the login work"</a:t>
            </a:r>
          </a:p>
        </p:txBody>
      </p:sp>
      <p:sp>
        <p:nvSpPr>
          <p:cNvPr id="9" name="TextBox 8"/>
          <p:cNvSpPr txBox="1"/>
          <p:nvPr/>
        </p:nvSpPr>
        <p:spPr>
          <a:xfrm>
            <a:off x="777240" y="3703320"/>
            <a:ext cx="4480560" cy="1280160"/>
          </a:xfrm>
          <a:prstGeom prst="rect">
            <a:avLst/>
          </a:prstGeom>
          <a:noFill/>
        </p:spPr>
        <p:txBody>
          <a:bodyPr wrap="square" lIns="0" tIns="0" rIns="0" bIns="0" anchor="t">
            <a:spAutoFit/>
          </a:bodyPr>
          <a:lstStyle/>
          <a:p>
            <a:pPr algn="l">
              <a:lnSpc>
                <a:spcPct val="125000"/>
              </a:lnSpc>
            </a:pPr>
            <a:r>
              <a:rPr sz="1250" b="0" i="0">
                <a:solidFill>
                  <a:srgbClr val="AFBCE6"/>
                </a:solidFill>
                <a:latin typeface="Calibri"/>
              </a:rPr>
              <a:t>No file, no validation rule, no definition of done. The agent guesses all three.</a:t>
            </a:r>
          </a:p>
        </p:txBody>
      </p:sp>
      <p:sp>
        <p:nvSpPr>
          <p:cNvPr id="10" name="Rectangle 9"/>
          <p:cNvSpPr/>
          <p:nvPr/>
        </p:nvSpPr>
        <p:spPr>
          <a:xfrm>
            <a:off x="5760720" y="2606040"/>
            <a:ext cx="4937760" cy="2651760"/>
          </a:xfrm>
          <a:prstGeom prst="rect">
            <a:avLst/>
          </a:prstGeom>
          <a:solidFill>
            <a:srgbClr val="121C47"/>
          </a:solidFill>
          <a:ln w="9525">
            <a:solidFill>
              <a:srgbClr val="2E40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989320" y="2788920"/>
            <a:ext cx="539496" cy="292608"/>
          </a:xfrm>
          <a:prstGeom prst="roundRect">
            <a:avLst>
              <a:gd name="adj" fmla="val 50000"/>
            </a:avLst>
          </a:prstGeom>
          <a:solidFill>
            <a:srgbClr val="2E40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4FC3F7"/>
                </a:solidFill>
                <a:latin typeface="Consolas"/>
              </a:rPr>
              <a:t>GOOD</a:t>
            </a:r>
          </a:p>
        </p:txBody>
      </p:sp>
      <p:sp>
        <p:nvSpPr>
          <p:cNvPr id="12" name="TextBox 11"/>
          <p:cNvSpPr txBox="1"/>
          <p:nvPr/>
        </p:nvSpPr>
        <p:spPr>
          <a:xfrm>
            <a:off x="5989320" y="3200400"/>
            <a:ext cx="4480560" cy="457200"/>
          </a:xfrm>
          <a:prstGeom prst="rect">
            <a:avLst/>
          </a:prstGeom>
          <a:noFill/>
        </p:spPr>
        <p:txBody>
          <a:bodyPr wrap="square" lIns="0" tIns="0" rIns="0" bIns="0" anchor="t">
            <a:spAutoFit/>
          </a:bodyPr>
          <a:lstStyle/>
          <a:p>
            <a:pPr algn="l">
              <a:lnSpc>
                <a:spcPct val="115000"/>
              </a:lnSpc>
            </a:pPr>
            <a:r>
              <a:rPr sz="1700" b="1" i="0">
                <a:solidFill>
                  <a:srgbClr val="FFFFFF"/>
                </a:solidFill>
                <a:latin typeface="Century Gothic"/>
              </a:rPr>
              <a:t>Add email + password login...</a:t>
            </a:r>
          </a:p>
        </p:txBody>
      </p:sp>
      <p:sp>
        <p:nvSpPr>
          <p:cNvPr id="13" name="TextBox 12"/>
          <p:cNvSpPr txBox="1"/>
          <p:nvPr/>
        </p:nvSpPr>
        <p:spPr>
          <a:xfrm>
            <a:off x="5989320" y="3703320"/>
            <a:ext cx="4480560" cy="1280160"/>
          </a:xfrm>
          <a:prstGeom prst="rect">
            <a:avLst/>
          </a:prstGeom>
          <a:noFill/>
        </p:spPr>
        <p:txBody>
          <a:bodyPr wrap="square" lIns="0" tIns="0" rIns="0" bIns="0" anchor="t">
            <a:spAutoFit/>
          </a:bodyPr>
          <a:lstStyle/>
          <a:p>
            <a:pPr algn="l">
              <a:lnSpc>
                <a:spcPct val="125000"/>
              </a:lnSpc>
            </a:pPr>
            <a:r>
              <a:rPr sz="1250" b="0" i="0">
                <a:solidFill>
                  <a:srgbClr val="AFBCE6"/>
                </a:solidFill>
                <a:latin typeface="Calibri"/>
              </a:rPr>
              <a:t>Add email+password login to src/auth. Reuse the Form component. Inline error under 8 chars or bad email. Write a test for the happy path and both errors.</a:t>
            </a:r>
          </a:p>
        </p:txBody>
      </p:sp>
      <p:sp>
        <p:nvSpPr>
          <p:cNvPr id="14" name="TextBox 13"/>
          <p:cNvSpPr txBox="1"/>
          <p:nvPr/>
        </p:nvSpPr>
        <p:spPr>
          <a:xfrm>
            <a:off x="548640" y="5440680"/>
            <a:ext cx="9966960" cy="216534"/>
          </a:xfrm>
          <a:prstGeom prst="rect">
            <a:avLst/>
          </a:prstGeom>
          <a:noFill/>
        </p:spPr>
        <p:txBody>
          <a:bodyPr wrap="square" lIns="0" tIns="0" rIns="0" bIns="0" anchor="t">
            <a:spAutoFit/>
          </a:bodyPr>
          <a:lstStyle/>
          <a:p>
            <a:pPr algn="l">
              <a:lnSpc>
                <a:spcPct val="115000"/>
              </a:lnSpc>
            </a:pPr>
            <a:r>
              <a:rPr sz="1300" b="0" i="1" dirty="0">
                <a:solidFill>
                  <a:srgbClr val="00B0F0"/>
                </a:solidFill>
                <a:latin typeface="Calibri"/>
              </a:rPr>
              <a:t>If the vague part is your own idea, not a missing detail, that's what grill-me is for, next.</a:t>
            </a:r>
            <a:endParaRPr lang="en-US" sz="1300" b="0" i="1" dirty="0">
              <a:solidFill>
                <a:srgbClr val="00B0F0"/>
              </a:solidFill>
              <a:latin typeface="Calibri"/>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457200"/>
            <a:ext cx="11094415" cy="320040"/>
          </a:xfrm>
          <a:prstGeom prst="rect">
            <a:avLst/>
          </a:prstGeom>
          <a:noFill/>
        </p:spPr>
        <p:txBody>
          <a:bodyPr wrap="square" lIns="0" tIns="0" rIns="0" bIns="0" anchor="t">
            <a:spAutoFit/>
          </a:bodyPr>
          <a:lstStyle/>
          <a:p>
            <a:pPr algn="l">
              <a:lnSpc>
                <a:spcPct val="115000"/>
              </a:lnSpc>
            </a:pPr>
            <a:r>
              <a:rPr sz="1300" b="1" i="0">
                <a:solidFill>
                  <a:srgbClr val="4FC3F7"/>
                </a:solidFill>
                <a:latin typeface="Consolas"/>
              </a:rPr>
              <a:t>06 . BUILDING EFFICIENTLY</a:t>
            </a:r>
          </a:p>
        </p:txBody>
      </p:sp>
      <p:sp>
        <p:nvSpPr>
          <p:cNvPr id="4" name="TextBox 3"/>
          <p:cNvSpPr txBox="1"/>
          <p:nvPr/>
        </p:nvSpPr>
        <p:spPr>
          <a:xfrm>
            <a:off x="548640" y="868680"/>
            <a:ext cx="11094415" cy="477247"/>
          </a:xfrm>
          <a:prstGeom prst="rect">
            <a:avLst/>
          </a:prstGeom>
          <a:noFill/>
        </p:spPr>
        <p:txBody>
          <a:bodyPr wrap="square" lIns="0" tIns="0" rIns="0" bIns="0" anchor="t">
            <a:spAutoFit/>
          </a:bodyPr>
          <a:lstStyle/>
          <a:p>
            <a:pPr algn="l">
              <a:lnSpc>
                <a:spcPct val="105000"/>
              </a:lnSpc>
            </a:pPr>
            <a:r>
              <a:rPr sz="3200" b="1" i="0" dirty="0">
                <a:latin typeface="Century Gothic"/>
              </a:rPr>
              <a:t>Two skills that make the agent stop overdoing it</a:t>
            </a:r>
            <a:endParaRPr lang="en-US" sz="3200" b="1" i="0" dirty="0">
              <a:latin typeface="Century Gothic"/>
            </a:endParaRPr>
          </a:p>
        </p:txBody>
      </p:sp>
      <p:sp>
        <p:nvSpPr>
          <p:cNvPr id="5" name="Rectangle 4"/>
          <p:cNvSpPr/>
          <p:nvPr/>
        </p:nvSpPr>
        <p:spPr>
          <a:xfrm>
            <a:off x="548640" y="1920240"/>
            <a:ext cx="4937760" cy="2880360"/>
          </a:xfrm>
          <a:prstGeom prst="rect">
            <a:avLst/>
          </a:prstGeom>
          <a:solidFill>
            <a:srgbClr val="121C47"/>
          </a:solidFill>
          <a:ln w="9525">
            <a:solidFill>
              <a:srgbClr val="2E40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2103120"/>
            <a:ext cx="841248" cy="292608"/>
          </a:xfrm>
          <a:prstGeom prst="roundRect">
            <a:avLst>
              <a:gd name="adj" fmla="val 50000"/>
            </a:avLst>
          </a:prstGeom>
          <a:solidFill>
            <a:srgbClr val="2E408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4FC3F7"/>
                </a:solidFill>
                <a:latin typeface="Consolas"/>
              </a:rPr>
              <a:t>CAVEMAN</a:t>
            </a:r>
          </a:p>
        </p:txBody>
      </p:sp>
      <p:sp>
        <p:nvSpPr>
          <p:cNvPr id="7" name="TextBox 6"/>
          <p:cNvSpPr txBox="1"/>
          <p:nvPr/>
        </p:nvSpPr>
        <p:spPr>
          <a:xfrm>
            <a:off x="777240" y="2514600"/>
            <a:ext cx="4480560" cy="457200"/>
          </a:xfrm>
          <a:prstGeom prst="rect">
            <a:avLst/>
          </a:prstGeom>
          <a:noFill/>
        </p:spPr>
        <p:txBody>
          <a:bodyPr wrap="square" lIns="0" tIns="0" rIns="0" bIns="0" anchor="t">
            <a:spAutoFit/>
          </a:bodyPr>
          <a:lstStyle/>
          <a:p>
            <a:pPr algn="l">
              <a:lnSpc>
                <a:spcPct val="115000"/>
              </a:lnSpc>
            </a:pPr>
            <a:r>
              <a:rPr sz="1700" b="1" i="0">
                <a:solidFill>
                  <a:srgbClr val="FFFFFF"/>
                </a:solidFill>
                <a:latin typeface="Century Gothic"/>
              </a:rPr>
              <a:t>Talk less, spend less</a:t>
            </a:r>
          </a:p>
        </p:txBody>
      </p:sp>
      <p:sp>
        <p:nvSpPr>
          <p:cNvPr id="8" name="TextBox 7"/>
          <p:cNvSpPr txBox="1"/>
          <p:nvPr/>
        </p:nvSpPr>
        <p:spPr>
          <a:xfrm>
            <a:off x="777240" y="3017520"/>
            <a:ext cx="4480560" cy="1508760"/>
          </a:xfrm>
          <a:prstGeom prst="rect">
            <a:avLst/>
          </a:prstGeom>
          <a:noFill/>
        </p:spPr>
        <p:txBody>
          <a:bodyPr wrap="square" lIns="0" tIns="0" rIns="0" bIns="0" anchor="t">
            <a:spAutoFit/>
          </a:bodyPr>
          <a:lstStyle/>
          <a:p>
            <a:pPr algn="l">
              <a:lnSpc>
                <a:spcPct val="125000"/>
              </a:lnSpc>
            </a:pPr>
            <a:r>
              <a:rPr sz="1250" b="0" i="0">
                <a:solidFill>
                  <a:srgbClr val="AFBCE6"/>
                </a:solidFill>
                <a:latin typeface="Calibri"/>
              </a:rPr>
              <a:t>Strips the agent's chatter down to blunt, terse language: code and results, not paragraphs of narration.</a:t>
            </a:r>
          </a:p>
        </p:txBody>
      </p:sp>
      <p:sp>
        <p:nvSpPr>
          <p:cNvPr id="9" name="Rounded Rectangle 8"/>
          <p:cNvSpPr/>
          <p:nvPr/>
        </p:nvSpPr>
        <p:spPr>
          <a:xfrm>
            <a:off x="777240" y="4297680"/>
            <a:ext cx="2194560" cy="320040"/>
          </a:xfrm>
          <a:prstGeom prst="roundRect">
            <a:avLst>
              <a:gd name="adj" fmla="val 50000"/>
            </a:avLst>
          </a:prstGeom>
          <a:solidFill>
            <a:srgbClr val="27225C"/>
          </a:solidFill>
          <a:ln w="9525">
            <a:solidFill>
              <a:srgbClr val="7C6CF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onsolas"/>
              </a:rPr>
              <a:t>~65% fewer tokens</a:t>
            </a:r>
          </a:p>
        </p:txBody>
      </p:sp>
      <p:sp>
        <p:nvSpPr>
          <p:cNvPr id="10" name="Rectangle 9"/>
          <p:cNvSpPr/>
          <p:nvPr/>
        </p:nvSpPr>
        <p:spPr>
          <a:xfrm>
            <a:off x="5760720" y="1920240"/>
            <a:ext cx="4937760" cy="2880360"/>
          </a:xfrm>
          <a:prstGeom prst="rect">
            <a:avLst/>
          </a:prstGeom>
          <a:solidFill>
            <a:srgbClr val="121C47"/>
          </a:solidFill>
          <a:ln w="9525">
            <a:solidFill>
              <a:srgbClr val="2E40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989320" y="2103120"/>
            <a:ext cx="941832" cy="292608"/>
          </a:xfrm>
          <a:prstGeom prst="roundRect">
            <a:avLst>
              <a:gd name="adj" fmla="val 50000"/>
            </a:avLst>
          </a:prstGeom>
          <a:solidFill>
            <a:srgbClr val="2722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7C6CF0"/>
                </a:solidFill>
                <a:latin typeface="Consolas"/>
              </a:rPr>
              <a:t>PONYTAIL</a:t>
            </a:r>
          </a:p>
        </p:txBody>
      </p:sp>
      <p:sp>
        <p:nvSpPr>
          <p:cNvPr id="12" name="TextBox 11"/>
          <p:cNvSpPr txBox="1"/>
          <p:nvPr/>
        </p:nvSpPr>
        <p:spPr>
          <a:xfrm>
            <a:off x="5989320" y="2514600"/>
            <a:ext cx="4480560" cy="457200"/>
          </a:xfrm>
          <a:prstGeom prst="rect">
            <a:avLst/>
          </a:prstGeom>
          <a:noFill/>
        </p:spPr>
        <p:txBody>
          <a:bodyPr wrap="square" lIns="0" tIns="0" rIns="0" bIns="0" anchor="t">
            <a:spAutoFit/>
          </a:bodyPr>
          <a:lstStyle/>
          <a:p>
            <a:pPr algn="l">
              <a:lnSpc>
                <a:spcPct val="115000"/>
              </a:lnSpc>
            </a:pPr>
            <a:r>
              <a:rPr sz="1700" b="1" i="0">
                <a:solidFill>
                  <a:srgbClr val="FFFFFF"/>
                </a:solidFill>
                <a:latin typeface="Century Gothic"/>
              </a:rPr>
              <a:t>Don't write what doesn't need writing</a:t>
            </a:r>
          </a:p>
        </p:txBody>
      </p:sp>
      <p:sp>
        <p:nvSpPr>
          <p:cNvPr id="13" name="TextBox 12"/>
          <p:cNvSpPr txBox="1"/>
          <p:nvPr/>
        </p:nvSpPr>
        <p:spPr>
          <a:xfrm>
            <a:off x="5989320" y="3017520"/>
            <a:ext cx="4480560" cy="1508760"/>
          </a:xfrm>
          <a:prstGeom prst="rect">
            <a:avLst/>
          </a:prstGeom>
          <a:noFill/>
        </p:spPr>
        <p:txBody>
          <a:bodyPr wrap="square" lIns="0" tIns="0" rIns="0" bIns="0" anchor="t">
            <a:spAutoFit/>
          </a:bodyPr>
          <a:lstStyle/>
          <a:p>
            <a:pPr algn="l">
              <a:lnSpc>
                <a:spcPct val="125000"/>
              </a:lnSpc>
            </a:pPr>
            <a:r>
              <a:rPr sz="1250" b="0" i="0">
                <a:solidFill>
                  <a:srgbClr val="AFBCE6"/>
                </a:solidFill>
                <a:latin typeface="Calibri"/>
              </a:rPr>
              <a:t>A decision ladder before any new code: does it need to exist? already in the codebase? one line? Then write minimal code.</a:t>
            </a:r>
          </a:p>
        </p:txBody>
      </p:sp>
      <p:sp>
        <p:nvSpPr>
          <p:cNvPr id="14" name="Rounded Rectangle 13"/>
          <p:cNvSpPr/>
          <p:nvPr/>
        </p:nvSpPr>
        <p:spPr>
          <a:xfrm>
            <a:off x="5989320" y="4297680"/>
            <a:ext cx="2194560" cy="320040"/>
          </a:xfrm>
          <a:prstGeom prst="roundRect">
            <a:avLst>
              <a:gd name="adj" fmla="val 50000"/>
            </a:avLst>
          </a:prstGeom>
          <a:solidFill>
            <a:srgbClr val="27225C"/>
          </a:solidFill>
          <a:ln w="9525">
            <a:solidFill>
              <a:srgbClr val="7C6CF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onsolas"/>
              </a:rPr>
              <a:t>~54% less code</a:t>
            </a:r>
          </a:p>
        </p:txBody>
      </p:sp>
      <p:sp>
        <p:nvSpPr>
          <p:cNvPr id="15" name="TextBox 14"/>
          <p:cNvSpPr txBox="1"/>
          <p:nvPr/>
        </p:nvSpPr>
        <p:spPr>
          <a:xfrm>
            <a:off x="548640" y="5029200"/>
            <a:ext cx="9966960" cy="216534"/>
          </a:xfrm>
          <a:prstGeom prst="rect">
            <a:avLst/>
          </a:prstGeom>
          <a:noFill/>
        </p:spPr>
        <p:txBody>
          <a:bodyPr wrap="square" lIns="0" tIns="0" rIns="0" bIns="0" anchor="t">
            <a:spAutoFit/>
          </a:bodyPr>
          <a:lstStyle/>
          <a:p>
            <a:pPr algn="l">
              <a:lnSpc>
                <a:spcPct val="115000"/>
              </a:lnSpc>
            </a:pPr>
            <a:r>
              <a:rPr sz="1300" b="0" i="1" dirty="0">
                <a:latin typeface="Calibri"/>
              </a:rPr>
              <a:t>Neither skill makes the agent smarter. Both stop it from doing more than the job requires.</a:t>
            </a:r>
            <a:endParaRPr lang="en-US" sz="1300" b="0" i="1" dirty="0">
              <a:latin typeface="Calibri"/>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457200"/>
            <a:ext cx="11094415" cy="320040"/>
          </a:xfrm>
          <a:prstGeom prst="rect">
            <a:avLst/>
          </a:prstGeom>
          <a:noFill/>
        </p:spPr>
        <p:txBody>
          <a:bodyPr wrap="square" lIns="0" tIns="0" rIns="0" bIns="0" anchor="t">
            <a:spAutoFit/>
          </a:bodyPr>
          <a:lstStyle/>
          <a:p>
            <a:pPr algn="l">
              <a:lnSpc>
                <a:spcPct val="115000"/>
              </a:lnSpc>
            </a:pPr>
            <a:r>
              <a:rPr sz="1300" b="1" i="0" dirty="0">
                <a:solidFill>
                  <a:srgbClr val="4FC3F7"/>
                </a:solidFill>
                <a:latin typeface="Consolas"/>
              </a:rPr>
              <a:t>07 . TESTING</a:t>
            </a:r>
          </a:p>
        </p:txBody>
      </p:sp>
      <p:sp>
        <p:nvSpPr>
          <p:cNvPr id="4" name="TextBox 3"/>
          <p:cNvSpPr txBox="1"/>
          <p:nvPr/>
        </p:nvSpPr>
        <p:spPr>
          <a:xfrm>
            <a:off x="548640" y="868680"/>
            <a:ext cx="5303520" cy="994311"/>
          </a:xfrm>
          <a:prstGeom prst="rect">
            <a:avLst/>
          </a:prstGeom>
          <a:noFill/>
        </p:spPr>
        <p:txBody>
          <a:bodyPr wrap="square" lIns="0" tIns="0" rIns="0" bIns="0" anchor="t">
            <a:spAutoFit/>
          </a:bodyPr>
          <a:lstStyle/>
          <a:p>
            <a:pPr algn="l">
              <a:lnSpc>
                <a:spcPct val="105000"/>
              </a:lnSpc>
            </a:pPr>
            <a:r>
              <a:rPr sz="3200" b="1" i="0" dirty="0">
                <a:latin typeface="Century Gothic"/>
              </a:rPr>
              <a:t>The one slide to actually remember</a:t>
            </a:r>
            <a:endParaRPr lang="en-US" sz="3200" b="1" i="0" dirty="0">
              <a:latin typeface="Century Gothic"/>
            </a:endParaRPr>
          </a:p>
        </p:txBody>
      </p:sp>
      <p:sp>
        <p:nvSpPr>
          <p:cNvPr id="5" name="TextBox 4"/>
          <p:cNvSpPr txBox="1"/>
          <p:nvPr/>
        </p:nvSpPr>
        <p:spPr>
          <a:xfrm>
            <a:off x="548640" y="2159225"/>
            <a:ext cx="5303520" cy="846835"/>
          </a:xfrm>
          <a:prstGeom prst="rect">
            <a:avLst/>
          </a:prstGeom>
          <a:noFill/>
        </p:spPr>
        <p:txBody>
          <a:bodyPr wrap="square" lIns="0" tIns="0" rIns="0" bIns="0" anchor="t">
            <a:spAutoFit/>
          </a:bodyPr>
          <a:lstStyle/>
          <a:p>
            <a:pPr algn="l">
              <a:lnSpc>
                <a:spcPct val="130000"/>
              </a:lnSpc>
            </a:pPr>
            <a:r>
              <a:rPr sz="1450" b="0" i="0" dirty="0">
                <a:solidFill>
                  <a:srgbClr val="00B0F0"/>
                </a:solidFill>
                <a:latin typeface="Calibri"/>
              </a:rPr>
              <a:t>Agent-written code can look right, run without errors, and still be wrong, because "looks right" was never checked. Without a test, the first person to find the bug is whoever's using it.</a:t>
            </a:r>
            <a:endParaRPr lang="en-US" sz="1450" b="0" i="0" dirty="0">
              <a:solidFill>
                <a:srgbClr val="00B0F0"/>
              </a:solidFill>
              <a:latin typeface="Calibri"/>
              <a:ea typeface="Calibri"/>
              <a:cs typeface="Calibri"/>
            </a:endParaRPr>
          </a:p>
        </p:txBody>
      </p:sp>
      <p:pic>
        <p:nvPicPr>
          <p:cNvPr id="6" name="Picture 5" descr="img_checklist.jpg"/>
          <p:cNvPicPr>
            <a:picLocks noChangeAspect="1"/>
          </p:cNvPicPr>
          <p:nvPr/>
        </p:nvPicPr>
        <p:blipFill>
          <a:blip r:embed="rId2"/>
          <a:srcRect t="20772" b="20772"/>
          <a:stretch>
            <a:fillRect/>
          </a:stretch>
        </p:blipFill>
        <p:spPr>
          <a:xfrm>
            <a:off x="6217920" y="1783080"/>
            <a:ext cx="5394960" cy="2103120"/>
          </a:xfrm>
          <a:prstGeom prst="rect">
            <a:avLst/>
          </a:prstGeom>
        </p:spPr>
      </p:pic>
      <p:sp>
        <p:nvSpPr>
          <p:cNvPr id="7" name="Rectangle 6"/>
          <p:cNvSpPr/>
          <p:nvPr/>
        </p:nvSpPr>
        <p:spPr>
          <a:xfrm>
            <a:off x="6217920" y="1783080"/>
            <a:ext cx="5394960" cy="2103120"/>
          </a:xfrm>
          <a:prstGeom prst="rect">
            <a:avLst/>
          </a:prstGeom>
          <a:noFill/>
          <a:ln w="12700">
            <a:solidFill>
              <a:srgbClr val="2E40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3520440"/>
            <a:ext cx="5303520" cy="1554480"/>
          </a:xfrm>
          <a:prstGeom prst="rect">
            <a:avLst/>
          </a:prstGeom>
          <a:solidFill>
            <a:srgbClr val="060A1C"/>
          </a:solidFill>
          <a:ln w="9525">
            <a:solidFill>
              <a:srgbClr val="2E408A"/>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201168" bIns="146304" rtlCol="0" anchor="ctr"/>
          <a:lstStyle/>
          <a:p>
            <a:pPr algn="ctr">
              <a:lnSpc>
                <a:spcPct val="130000"/>
              </a:lnSpc>
            </a:pPr>
            <a:r>
              <a:rPr sz="1300" dirty="0">
                <a:solidFill>
                  <a:srgbClr val="5C6C9A"/>
                </a:solidFill>
                <a:latin typeface="Consolas"/>
              </a:rPr>
              <a:t>tests/test_calc.py</a:t>
            </a:r>
          </a:p>
          <a:p>
            <a:pPr>
              <a:lnSpc>
                <a:spcPct val="130000"/>
              </a:lnSpc>
            </a:pPr>
            <a:r>
              <a:rPr sz="1300" dirty="0">
                <a:solidFill>
                  <a:srgbClr val="D9E8FF"/>
                </a:solidFill>
                <a:latin typeface="Consolas"/>
              </a:rPr>
              <a:t>class </a:t>
            </a:r>
            <a:r>
              <a:rPr sz="1300" dirty="0" err="1">
                <a:solidFill>
                  <a:srgbClr val="D9E8FF"/>
                </a:solidFill>
                <a:latin typeface="Consolas"/>
              </a:rPr>
              <a:t>TestAddScenarioCombiningTwoPrices</a:t>
            </a:r>
            <a:r>
              <a:rPr sz="1300" dirty="0">
                <a:solidFill>
                  <a:srgbClr val="D9E8FF"/>
                </a:solidFill>
                <a:latin typeface="Consolas"/>
              </a:rPr>
              <a:t>:</a:t>
            </a:r>
          </a:p>
          <a:p>
            <a:pPr>
              <a:lnSpc>
                <a:spcPct val="130000"/>
              </a:lnSpc>
            </a:pPr>
            <a:r>
              <a:rPr sz="1300" dirty="0">
                <a:solidFill>
                  <a:srgbClr val="D9E8FF"/>
                </a:solidFill>
                <a:latin typeface="Consolas"/>
              </a:rPr>
              <a:t>    def </a:t>
            </a:r>
            <a:r>
              <a:rPr sz="1300" dirty="0" err="1">
                <a:solidFill>
                  <a:srgbClr val="D9E8FF"/>
                </a:solidFill>
                <a:latin typeface="Consolas"/>
              </a:rPr>
              <a:t>test_case_typical_prices</a:t>
            </a:r>
            <a:r>
              <a:rPr sz="1300" dirty="0">
                <a:solidFill>
                  <a:srgbClr val="D9E8FF"/>
                </a:solidFill>
                <a:latin typeface="Consolas"/>
              </a:rPr>
              <a:t>(self):</a:t>
            </a:r>
          </a:p>
          <a:p>
            <a:pPr>
              <a:lnSpc>
                <a:spcPct val="130000"/>
              </a:lnSpc>
            </a:pPr>
            <a:r>
              <a:rPr sz="1300" dirty="0">
                <a:solidFill>
                  <a:srgbClr val="D9E8FF"/>
                </a:solidFill>
                <a:latin typeface="Consolas"/>
              </a:rPr>
              <a:t>        assert add(2, 3) == 5</a:t>
            </a:r>
          </a:p>
        </p:txBody>
      </p:sp>
      <p:sp>
        <p:nvSpPr>
          <p:cNvPr id="9" name="Rectangle 8"/>
          <p:cNvSpPr/>
          <p:nvPr/>
        </p:nvSpPr>
        <p:spPr>
          <a:xfrm>
            <a:off x="6217920" y="4069080"/>
            <a:ext cx="5394960" cy="1051560"/>
          </a:xfrm>
          <a:prstGeom prst="rect">
            <a:avLst/>
          </a:prstGeom>
          <a:solidFill>
            <a:srgbClr val="27225C"/>
          </a:solidFill>
          <a:ln w="9525">
            <a:solidFill>
              <a:srgbClr val="7C6CF0"/>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182880" bIns="109728" rtlCol="0" anchor="ctr"/>
          <a:lstStyle/>
          <a:p>
            <a:pPr algn="ctr"/>
            <a:r>
              <a:rPr sz="1400" dirty="0">
                <a:solidFill>
                  <a:srgbClr val="FFFFFF"/>
                </a:solidFill>
                <a:latin typeface="Calibri"/>
              </a:rPr>
              <a:t>CI fails your pull request if tests don't pass. Don't turn that check off to get a change through. Fix the change instead.</a:t>
            </a:r>
          </a:p>
        </p:txBody>
      </p:sp>
      <p:sp>
        <p:nvSpPr>
          <p:cNvPr id="10" name="Rectangle 9"/>
          <p:cNvSpPr/>
          <p:nvPr/>
        </p:nvSpPr>
        <p:spPr>
          <a:xfrm>
            <a:off x="6217920" y="4069080"/>
            <a:ext cx="54864" cy="1051560"/>
          </a:xfrm>
          <a:prstGeom prst="rect">
            <a:avLst/>
          </a:prstGeom>
          <a:solidFill>
            <a:srgbClr val="7C6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A8247E28-1567-249E-C6B3-D85BF005F8A1}"/>
              </a:ext>
            </a:extLst>
          </p:cNvPr>
          <p:cNvSpPr txBox="1"/>
          <p:nvPr/>
        </p:nvSpPr>
        <p:spPr>
          <a:xfrm>
            <a:off x="5972119" y="656378"/>
            <a:ext cx="532498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Calibri"/>
                <a:cs typeface="Calibri"/>
              </a:rPr>
              <a:t>TEST DRIVEN DEVELOPMENT !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457200"/>
            <a:ext cx="11094415" cy="320040"/>
          </a:xfrm>
          <a:prstGeom prst="rect">
            <a:avLst/>
          </a:prstGeom>
          <a:noFill/>
        </p:spPr>
        <p:txBody>
          <a:bodyPr wrap="square" lIns="0" tIns="0" rIns="0" bIns="0" anchor="t">
            <a:spAutoFit/>
          </a:bodyPr>
          <a:lstStyle/>
          <a:p>
            <a:pPr algn="l">
              <a:lnSpc>
                <a:spcPct val="115000"/>
              </a:lnSpc>
            </a:pPr>
            <a:r>
              <a:rPr sz="1300" b="1" i="0" dirty="0">
                <a:solidFill>
                  <a:srgbClr val="4FC3F7"/>
                </a:solidFill>
                <a:latin typeface="Consolas"/>
              </a:rPr>
              <a:t>07 . BEFORE YOU START</a:t>
            </a:r>
          </a:p>
        </p:txBody>
      </p:sp>
      <p:sp>
        <p:nvSpPr>
          <p:cNvPr id="4" name="TextBox 3"/>
          <p:cNvSpPr txBox="1"/>
          <p:nvPr/>
        </p:nvSpPr>
        <p:spPr>
          <a:xfrm>
            <a:off x="548640" y="868680"/>
            <a:ext cx="11094415" cy="477247"/>
          </a:xfrm>
          <a:prstGeom prst="rect">
            <a:avLst/>
          </a:prstGeom>
          <a:noFill/>
        </p:spPr>
        <p:txBody>
          <a:bodyPr wrap="square" lIns="0" tIns="0" rIns="0" bIns="0" anchor="t">
            <a:spAutoFit/>
          </a:bodyPr>
          <a:lstStyle/>
          <a:p>
            <a:pPr algn="l">
              <a:lnSpc>
                <a:spcPct val="105000"/>
              </a:lnSpc>
            </a:pPr>
            <a:r>
              <a:rPr sz="3200" b="1" i="0" dirty="0">
                <a:latin typeface="Century Gothic"/>
              </a:rPr>
              <a:t>What's actually automatic here, and what isn't</a:t>
            </a:r>
            <a:endParaRPr lang="en-US" sz="3200" b="1" i="0" dirty="0">
              <a:latin typeface="Century Gothic"/>
            </a:endParaRPr>
          </a:p>
        </p:txBody>
      </p:sp>
      <p:sp>
        <p:nvSpPr>
          <p:cNvPr id="5" name="TextBox 4"/>
          <p:cNvSpPr txBox="1"/>
          <p:nvPr/>
        </p:nvSpPr>
        <p:spPr>
          <a:xfrm>
            <a:off x="548640" y="1828800"/>
            <a:ext cx="9966960" cy="575927"/>
          </a:xfrm>
          <a:prstGeom prst="rect">
            <a:avLst/>
          </a:prstGeom>
          <a:noFill/>
        </p:spPr>
        <p:txBody>
          <a:bodyPr wrap="square" lIns="0" tIns="0" rIns="0" bIns="0" anchor="t">
            <a:spAutoFit/>
          </a:bodyPr>
          <a:lstStyle/>
          <a:p>
            <a:pPr algn="l">
              <a:lnSpc>
                <a:spcPct val="130000"/>
              </a:lnSpc>
            </a:pPr>
            <a:r>
              <a:rPr sz="1500" b="1" i="0" dirty="0">
                <a:solidFill>
                  <a:srgbClr val="00B0F0"/>
                </a:solidFill>
                <a:latin typeface="Calibri"/>
              </a:rPr>
              <a:t>Using the template does not make an agent follow BMAD, ask to be grilled, or write minimal code on its own. Those are things you have to do or ask for, every session.</a:t>
            </a:r>
            <a:endParaRPr lang="en-US" sz="1500" b="1" i="0">
              <a:solidFill>
                <a:srgbClr val="00B0F0"/>
              </a:solidFill>
              <a:latin typeface="Calibri"/>
              <a:ea typeface="Calibri"/>
              <a:cs typeface="Calibri"/>
            </a:endParaRPr>
          </a:p>
        </p:txBody>
      </p:sp>
      <p:sp>
        <p:nvSpPr>
          <p:cNvPr id="6" name="Oval 5"/>
          <p:cNvSpPr/>
          <p:nvPr/>
        </p:nvSpPr>
        <p:spPr>
          <a:xfrm>
            <a:off x="548640" y="2770632"/>
            <a:ext cx="365760" cy="365760"/>
          </a:xfrm>
          <a:prstGeom prst="ellipse">
            <a:avLst/>
          </a:prstGeom>
          <a:solidFill>
            <a:srgbClr val="121C47"/>
          </a:solidFill>
          <a:ln w="15875">
            <a:solidFill>
              <a:srgbClr val="4FC3F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dirty="0">
                <a:solidFill>
                  <a:srgbClr val="4FC3F7"/>
                </a:solidFill>
                <a:latin typeface="Consolas"/>
              </a:rPr>
              <a:t>1</a:t>
            </a:r>
          </a:p>
        </p:txBody>
      </p:sp>
      <p:sp>
        <p:nvSpPr>
          <p:cNvPr id="7" name="TextBox 6"/>
          <p:cNvSpPr txBox="1"/>
          <p:nvPr/>
        </p:nvSpPr>
        <p:spPr>
          <a:xfrm>
            <a:off x="1097280" y="2743200"/>
            <a:ext cx="9418320" cy="499817"/>
          </a:xfrm>
          <a:prstGeom prst="rect">
            <a:avLst/>
          </a:prstGeom>
          <a:noFill/>
        </p:spPr>
        <p:txBody>
          <a:bodyPr wrap="square" lIns="0" tIns="0" rIns="0" bIns="0" anchor="t">
            <a:spAutoFit/>
          </a:bodyPr>
          <a:lstStyle/>
          <a:p>
            <a:pPr algn="l">
              <a:lnSpc>
                <a:spcPct val="120000"/>
              </a:lnSpc>
            </a:pPr>
            <a:r>
              <a:rPr sz="1400" b="1" i="0" dirty="0">
                <a:solidFill>
                  <a:srgbClr val="00B0F0"/>
                </a:solidFill>
                <a:latin typeface="Calibri"/>
              </a:rPr>
              <a:t>AGENTS.md is auto-loaded into context by supporting tools. Loaded is not the same as obeyed; a long session can still drift from it.</a:t>
            </a:r>
            <a:endParaRPr lang="en-US" sz="1400" b="1" i="0" dirty="0">
              <a:solidFill>
                <a:srgbClr val="00B0F0"/>
              </a:solidFill>
              <a:latin typeface="Calibri"/>
              <a:ea typeface="Calibri"/>
              <a:cs typeface="Calibri"/>
            </a:endParaRPr>
          </a:p>
        </p:txBody>
      </p:sp>
      <p:sp>
        <p:nvSpPr>
          <p:cNvPr id="8" name="Oval 7"/>
          <p:cNvSpPr/>
          <p:nvPr/>
        </p:nvSpPr>
        <p:spPr>
          <a:xfrm>
            <a:off x="548640" y="3593592"/>
            <a:ext cx="365760" cy="365760"/>
          </a:xfrm>
          <a:prstGeom prst="ellipse">
            <a:avLst/>
          </a:prstGeom>
          <a:solidFill>
            <a:srgbClr val="121C47"/>
          </a:solidFill>
          <a:ln w="15875">
            <a:solidFill>
              <a:srgbClr val="4FC3F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dirty="0">
                <a:solidFill>
                  <a:srgbClr val="4FC3F7"/>
                </a:solidFill>
                <a:latin typeface="Consolas"/>
              </a:rPr>
              <a:t>2</a:t>
            </a:r>
          </a:p>
        </p:txBody>
      </p:sp>
      <p:sp>
        <p:nvSpPr>
          <p:cNvPr id="9" name="TextBox 8"/>
          <p:cNvSpPr txBox="1"/>
          <p:nvPr/>
        </p:nvSpPr>
        <p:spPr>
          <a:xfrm>
            <a:off x="1097280" y="3566160"/>
            <a:ext cx="9418320" cy="499817"/>
          </a:xfrm>
          <a:prstGeom prst="rect">
            <a:avLst/>
          </a:prstGeom>
          <a:noFill/>
        </p:spPr>
        <p:txBody>
          <a:bodyPr wrap="square" lIns="0" tIns="0" rIns="0" bIns="0" anchor="t">
            <a:spAutoFit/>
          </a:bodyPr>
          <a:lstStyle/>
          <a:p>
            <a:pPr algn="l">
              <a:lnSpc>
                <a:spcPct val="120000"/>
              </a:lnSpc>
            </a:pPr>
            <a:r>
              <a:rPr sz="1400" b="1" i="0" dirty="0">
                <a:solidFill>
                  <a:srgbClr val="00B0F0"/>
                </a:solidFill>
                <a:latin typeface="Calibri"/>
              </a:rPr>
              <a:t>The four Claude Code skills need a manual install, and most need manual invocation each time. grill-me in particular refuses to trigger itself.</a:t>
            </a:r>
            <a:endParaRPr lang="en-US" sz="1400" b="1" i="0" dirty="0">
              <a:solidFill>
                <a:srgbClr val="00B0F0"/>
              </a:solidFill>
              <a:latin typeface="Calibri"/>
              <a:ea typeface="Calibri"/>
              <a:cs typeface="Calibri"/>
            </a:endParaRPr>
          </a:p>
        </p:txBody>
      </p:sp>
      <p:sp>
        <p:nvSpPr>
          <p:cNvPr id="10" name="Oval 9"/>
          <p:cNvSpPr/>
          <p:nvPr/>
        </p:nvSpPr>
        <p:spPr>
          <a:xfrm>
            <a:off x="548640" y="4416552"/>
            <a:ext cx="365760" cy="365760"/>
          </a:xfrm>
          <a:prstGeom prst="ellipse">
            <a:avLst/>
          </a:prstGeom>
          <a:solidFill>
            <a:srgbClr val="121C47"/>
          </a:solidFill>
          <a:ln w="15875">
            <a:solidFill>
              <a:srgbClr val="4FC3F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dirty="0">
                <a:solidFill>
                  <a:srgbClr val="4FC3F7"/>
                </a:solidFill>
                <a:latin typeface="Consolas"/>
              </a:rPr>
              <a:t>3</a:t>
            </a:r>
          </a:p>
        </p:txBody>
      </p:sp>
      <p:sp>
        <p:nvSpPr>
          <p:cNvPr id="11" name="TextBox 10"/>
          <p:cNvSpPr txBox="1"/>
          <p:nvPr/>
        </p:nvSpPr>
        <p:spPr>
          <a:xfrm>
            <a:off x="1097280" y="4389120"/>
            <a:ext cx="9418320" cy="499817"/>
          </a:xfrm>
          <a:prstGeom prst="rect">
            <a:avLst/>
          </a:prstGeom>
          <a:noFill/>
        </p:spPr>
        <p:txBody>
          <a:bodyPr wrap="square" lIns="0" tIns="0" rIns="0" bIns="0" anchor="t">
            <a:spAutoFit/>
          </a:bodyPr>
          <a:lstStyle/>
          <a:p>
            <a:pPr algn="l">
              <a:lnSpc>
                <a:spcPct val="120000"/>
              </a:lnSpc>
            </a:pPr>
            <a:r>
              <a:rPr sz="1400" b="1" i="0" dirty="0">
                <a:solidFill>
                  <a:srgbClr val="00B0F0"/>
                </a:solidFill>
                <a:latin typeface="Calibri"/>
              </a:rPr>
              <a:t>CI reruns tests on every push, and fails a PR if </a:t>
            </a:r>
            <a:r>
              <a:rPr sz="1400" b="1" i="0" dirty="0" err="1">
                <a:solidFill>
                  <a:srgbClr val="00B0F0"/>
                </a:solidFill>
                <a:latin typeface="Calibri"/>
              </a:rPr>
              <a:t>src</a:t>
            </a:r>
            <a:r>
              <a:rPr sz="1400" b="1" i="0" dirty="0">
                <a:solidFill>
                  <a:srgbClr val="00B0F0"/>
                </a:solidFill>
                <a:latin typeface="Calibri"/>
              </a:rPr>
              <a:t>/ changed with no matching change in tests/. It catches "no test at all," not "bad test."</a:t>
            </a:r>
            <a:endParaRPr lang="en-US" sz="1400" b="1" i="0">
              <a:solidFill>
                <a:srgbClr val="00B0F0"/>
              </a:solidFill>
              <a:latin typeface="Calibri"/>
              <a:ea typeface="Calibri"/>
              <a:cs typeface="Calibri"/>
            </a:endParaRPr>
          </a:p>
        </p:txBody>
      </p:sp>
      <p:sp>
        <p:nvSpPr>
          <p:cNvPr id="12" name="Rectangle 11"/>
          <p:cNvSpPr/>
          <p:nvPr/>
        </p:nvSpPr>
        <p:spPr>
          <a:xfrm>
            <a:off x="548640" y="5532120"/>
            <a:ext cx="9966960" cy="777240"/>
          </a:xfrm>
          <a:prstGeom prst="rect">
            <a:avLst/>
          </a:prstGeom>
          <a:solidFill>
            <a:srgbClr val="27225C"/>
          </a:solidFill>
          <a:ln w="9525">
            <a:solidFill>
              <a:srgbClr val="7C6CF0"/>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182880" bIns="109728" rtlCol="0" anchor="ctr"/>
          <a:lstStyle/>
          <a:p>
            <a:pPr algn="ctr"/>
            <a:r>
              <a:rPr sz="1400" dirty="0">
                <a:solidFill>
                  <a:srgbClr val="FFFFFF"/>
                </a:solidFill>
                <a:latin typeface="Calibri"/>
              </a:rPr>
              <a:t>The template lowers the friction and sets the default. It doesn't replace the discipline of actually doing the steps.</a:t>
            </a:r>
          </a:p>
        </p:txBody>
      </p:sp>
      <p:sp>
        <p:nvSpPr>
          <p:cNvPr id="13" name="Rectangle 12"/>
          <p:cNvSpPr/>
          <p:nvPr/>
        </p:nvSpPr>
        <p:spPr>
          <a:xfrm>
            <a:off x="548640" y="5532120"/>
            <a:ext cx="54864" cy="777240"/>
          </a:xfrm>
          <a:prstGeom prst="rect">
            <a:avLst/>
          </a:prstGeom>
          <a:solidFill>
            <a:srgbClr val="7C6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457200"/>
            <a:ext cx="11094415" cy="320040"/>
          </a:xfrm>
          <a:prstGeom prst="rect">
            <a:avLst/>
          </a:prstGeom>
          <a:noFill/>
        </p:spPr>
        <p:txBody>
          <a:bodyPr wrap="square" lIns="0" tIns="0" rIns="0" bIns="0" anchor="t">
            <a:spAutoFit/>
          </a:bodyPr>
          <a:lstStyle/>
          <a:p>
            <a:pPr algn="l">
              <a:lnSpc>
                <a:spcPct val="115000"/>
              </a:lnSpc>
            </a:pPr>
            <a:r>
              <a:rPr sz="1300" b="1" i="0" dirty="0">
                <a:solidFill>
                  <a:srgbClr val="4FC3F7"/>
                </a:solidFill>
                <a:latin typeface="Consolas"/>
              </a:rPr>
              <a:t>08 . YOUR TURN</a:t>
            </a:r>
          </a:p>
        </p:txBody>
      </p:sp>
      <p:sp>
        <p:nvSpPr>
          <p:cNvPr id="4" name="TextBox 3"/>
          <p:cNvSpPr txBox="1"/>
          <p:nvPr/>
        </p:nvSpPr>
        <p:spPr>
          <a:xfrm>
            <a:off x="548640" y="868680"/>
            <a:ext cx="11094415" cy="477247"/>
          </a:xfrm>
          <a:prstGeom prst="rect">
            <a:avLst/>
          </a:prstGeom>
          <a:noFill/>
        </p:spPr>
        <p:txBody>
          <a:bodyPr wrap="square" lIns="0" tIns="0" rIns="0" bIns="0" anchor="t">
            <a:spAutoFit/>
          </a:bodyPr>
          <a:lstStyle/>
          <a:p>
            <a:pPr algn="l">
              <a:lnSpc>
                <a:spcPct val="105000"/>
              </a:lnSpc>
            </a:pPr>
            <a:r>
              <a:rPr sz="3200" b="1" i="0" dirty="0">
                <a:latin typeface="Century Gothic"/>
              </a:rPr>
              <a:t>Use the template and start building</a:t>
            </a:r>
            <a:endParaRPr lang="en-US" sz="3200" b="1" i="0" dirty="0">
              <a:latin typeface="Century Gothic"/>
            </a:endParaRPr>
          </a:p>
        </p:txBody>
      </p:sp>
      <p:sp>
        <p:nvSpPr>
          <p:cNvPr id="5" name="Oval 4"/>
          <p:cNvSpPr/>
          <p:nvPr/>
        </p:nvSpPr>
        <p:spPr>
          <a:xfrm>
            <a:off x="548640" y="1901951"/>
            <a:ext cx="365760" cy="365760"/>
          </a:xfrm>
          <a:prstGeom prst="ellipse">
            <a:avLst/>
          </a:prstGeom>
          <a:solidFill>
            <a:srgbClr val="121C47"/>
          </a:solidFill>
          <a:ln w="15875">
            <a:solidFill>
              <a:srgbClr val="4FC3F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dirty="0">
                <a:solidFill>
                  <a:srgbClr val="4FC3F7"/>
                </a:solidFill>
                <a:latin typeface="Consolas"/>
              </a:rPr>
              <a:t>1</a:t>
            </a:r>
          </a:p>
        </p:txBody>
      </p:sp>
      <p:sp>
        <p:nvSpPr>
          <p:cNvPr id="6" name="TextBox 5"/>
          <p:cNvSpPr txBox="1"/>
          <p:nvPr/>
        </p:nvSpPr>
        <p:spPr>
          <a:xfrm>
            <a:off x="1097280" y="1874519"/>
            <a:ext cx="9418320" cy="241285"/>
          </a:xfrm>
          <a:prstGeom prst="rect">
            <a:avLst/>
          </a:prstGeom>
          <a:noFill/>
        </p:spPr>
        <p:txBody>
          <a:bodyPr wrap="square" lIns="0" tIns="0" rIns="0" bIns="0" anchor="t">
            <a:spAutoFit/>
          </a:bodyPr>
          <a:lstStyle/>
          <a:p>
            <a:pPr algn="l">
              <a:lnSpc>
                <a:spcPct val="120000"/>
              </a:lnSpc>
            </a:pPr>
            <a:r>
              <a:rPr sz="1400" b="1" i="0" dirty="0">
                <a:solidFill>
                  <a:srgbClr val="00B0F0"/>
                </a:solidFill>
                <a:latin typeface="Calibri"/>
              </a:rPr>
              <a:t>Use the template </a:t>
            </a:r>
            <a:r>
              <a:rPr sz="1400" b="1" i="0" dirty="0" err="1">
                <a:solidFill>
                  <a:srgbClr val="00B0F0"/>
                </a:solidFill>
                <a:latin typeface="Calibri"/>
              </a:rPr>
              <a:t>wadeburton</a:t>
            </a:r>
            <a:r>
              <a:rPr sz="1400" b="1" i="0" dirty="0">
                <a:solidFill>
                  <a:srgbClr val="00B0F0"/>
                </a:solidFill>
                <a:latin typeface="Calibri"/>
              </a:rPr>
              <a:t>/vibe-coding-101, clone your copy. Any AI tool works, see docs/tooling.md.</a:t>
            </a:r>
            <a:endParaRPr lang="en-US" sz="1400" b="1" i="0">
              <a:solidFill>
                <a:srgbClr val="00B0F0"/>
              </a:solidFill>
              <a:latin typeface="Calibri"/>
              <a:ea typeface="Calibri"/>
              <a:cs typeface="Calibri"/>
            </a:endParaRPr>
          </a:p>
        </p:txBody>
      </p:sp>
      <p:sp>
        <p:nvSpPr>
          <p:cNvPr id="7" name="Oval 6"/>
          <p:cNvSpPr/>
          <p:nvPr/>
        </p:nvSpPr>
        <p:spPr>
          <a:xfrm>
            <a:off x="548640" y="2615183"/>
            <a:ext cx="365760" cy="365760"/>
          </a:xfrm>
          <a:prstGeom prst="ellipse">
            <a:avLst/>
          </a:prstGeom>
          <a:solidFill>
            <a:srgbClr val="121C47"/>
          </a:solidFill>
          <a:ln w="15875">
            <a:solidFill>
              <a:srgbClr val="4FC3F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dirty="0">
                <a:solidFill>
                  <a:srgbClr val="4FC3F7"/>
                </a:solidFill>
                <a:latin typeface="Consolas"/>
              </a:rPr>
              <a:t>2</a:t>
            </a:r>
          </a:p>
        </p:txBody>
      </p:sp>
      <p:sp>
        <p:nvSpPr>
          <p:cNvPr id="8" name="TextBox 7"/>
          <p:cNvSpPr txBox="1"/>
          <p:nvPr/>
        </p:nvSpPr>
        <p:spPr>
          <a:xfrm>
            <a:off x="1097280" y="2587751"/>
            <a:ext cx="9418320" cy="241285"/>
          </a:xfrm>
          <a:prstGeom prst="rect">
            <a:avLst/>
          </a:prstGeom>
          <a:noFill/>
        </p:spPr>
        <p:txBody>
          <a:bodyPr wrap="square" lIns="0" tIns="0" rIns="0" bIns="0" anchor="t">
            <a:spAutoFit/>
          </a:bodyPr>
          <a:lstStyle/>
          <a:p>
            <a:pPr algn="l">
              <a:lnSpc>
                <a:spcPct val="120000"/>
              </a:lnSpc>
            </a:pPr>
            <a:r>
              <a:rPr sz="1400" b="1" i="0" dirty="0">
                <a:solidFill>
                  <a:srgbClr val="00B0F0"/>
                </a:solidFill>
                <a:latin typeface="Calibri"/>
              </a:rPr>
              <a:t>On Claude Code, run the setup in SKILLS.md: installs grill-me, </a:t>
            </a:r>
            <a:r>
              <a:rPr sz="1400" b="1" i="0" dirty="0" err="1">
                <a:solidFill>
                  <a:srgbClr val="00B0F0"/>
                </a:solidFill>
                <a:latin typeface="Calibri"/>
              </a:rPr>
              <a:t>tdd</a:t>
            </a:r>
            <a:r>
              <a:rPr sz="1400" b="1" i="0" dirty="0">
                <a:solidFill>
                  <a:srgbClr val="00B0F0"/>
                </a:solidFill>
                <a:latin typeface="Calibri"/>
              </a:rPr>
              <a:t>, ponytail, caveman.</a:t>
            </a:r>
            <a:endParaRPr lang="en-US" sz="1400" b="1" i="0">
              <a:solidFill>
                <a:srgbClr val="00B0F0"/>
              </a:solidFill>
              <a:latin typeface="Calibri"/>
              <a:ea typeface="Calibri"/>
              <a:cs typeface="Calibri"/>
            </a:endParaRPr>
          </a:p>
        </p:txBody>
      </p:sp>
      <p:sp>
        <p:nvSpPr>
          <p:cNvPr id="9" name="Oval 8"/>
          <p:cNvSpPr/>
          <p:nvPr/>
        </p:nvSpPr>
        <p:spPr>
          <a:xfrm>
            <a:off x="548640" y="3328415"/>
            <a:ext cx="365760" cy="365760"/>
          </a:xfrm>
          <a:prstGeom prst="ellipse">
            <a:avLst/>
          </a:prstGeom>
          <a:solidFill>
            <a:srgbClr val="121C47"/>
          </a:solidFill>
          <a:ln w="15875">
            <a:solidFill>
              <a:srgbClr val="4FC3F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dirty="0">
                <a:solidFill>
                  <a:srgbClr val="4FC3F7"/>
                </a:solidFill>
                <a:latin typeface="Consolas"/>
              </a:rPr>
              <a:t>3</a:t>
            </a:r>
          </a:p>
        </p:txBody>
      </p:sp>
      <p:sp>
        <p:nvSpPr>
          <p:cNvPr id="10" name="TextBox 9"/>
          <p:cNvSpPr txBox="1"/>
          <p:nvPr/>
        </p:nvSpPr>
        <p:spPr>
          <a:xfrm>
            <a:off x="1097280" y="3300983"/>
            <a:ext cx="9418320" cy="241285"/>
          </a:xfrm>
          <a:prstGeom prst="rect">
            <a:avLst/>
          </a:prstGeom>
          <a:noFill/>
        </p:spPr>
        <p:txBody>
          <a:bodyPr wrap="square" lIns="0" tIns="0" rIns="0" bIns="0" anchor="t">
            <a:spAutoFit/>
          </a:bodyPr>
          <a:lstStyle/>
          <a:p>
            <a:pPr algn="l">
              <a:lnSpc>
                <a:spcPct val="120000"/>
              </a:lnSpc>
            </a:pPr>
            <a:r>
              <a:rPr sz="1400" b="1" i="0" dirty="0">
                <a:solidFill>
                  <a:srgbClr val="00B0F0"/>
                </a:solidFill>
                <a:latin typeface="Calibri"/>
              </a:rPr>
              <a:t>Clarify your idea, then say "grill me on this" before writing code.</a:t>
            </a:r>
            <a:endParaRPr lang="en-US" sz="1400" b="1" i="0">
              <a:solidFill>
                <a:srgbClr val="00B0F0"/>
              </a:solidFill>
              <a:latin typeface="Calibri"/>
              <a:ea typeface="Calibri"/>
              <a:cs typeface="Calibri"/>
            </a:endParaRPr>
          </a:p>
        </p:txBody>
      </p:sp>
      <p:sp>
        <p:nvSpPr>
          <p:cNvPr id="11" name="Oval 10"/>
          <p:cNvSpPr/>
          <p:nvPr/>
        </p:nvSpPr>
        <p:spPr>
          <a:xfrm>
            <a:off x="548640" y="4041647"/>
            <a:ext cx="365760" cy="365760"/>
          </a:xfrm>
          <a:prstGeom prst="ellipse">
            <a:avLst/>
          </a:prstGeom>
          <a:solidFill>
            <a:srgbClr val="121C47"/>
          </a:solidFill>
          <a:ln w="15875">
            <a:solidFill>
              <a:srgbClr val="4FC3F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dirty="0">
                <a:solidFill>
                  <a:srgbClr val="4FC3F7"/>
                </a:solidFill>
                <a:latin typeface="Consolas"/>
              </a:rPr>
              <a:t>4</a:t>
            </a:r>
          </a:p>
        </p:txBody>
      </p:sp>
      <p:sp>
        <p:nvSpPr>
          <p:cNvPr id="12" name="TextBox 11"/>
          <p:cNvSpPr txBox="1"/>
          <p:nvPr/>
        </p:nvSpPr>
        <p:spPr>
          <a:xfrm>
            <a:off x="1097280" y="4014215"/>
            <a:ext cx="9418320" cy="241285"/>
          </a:xfrm>
          <a:prstGeom prst="rect">
            <a:avLst/>
          </a:prstGeom>
          <a:noFill/>
        </p:spPr>
        <p:txBody>
          <a:bodyPr wrap="square" lIns="0" tIns="0" rIns="0" bIns="0" anchor="t">
            <a:spAutoFit/>
          </a:bodyPr>
          <a:lstStyle/>
          <a:p>
            <a:pPr algn="l">
              <a:lnSpc>
                <a:spcPct val="120000"/>
              </a:lnSpc>
            </a:pPr>
            <a:r>
              <a:rPr sz="1400" b="1" i="0" dirty="0">
                <a:solidFill>
                  <a:srgbClr val="00B0F0"/>
                </a:solidFill>
                <a:latin typeface="Calibri"/>
              </a:rPr>
              <a:t>Plan it in docs/planning/.</a:t>
            </a:r>
            <a:endParaRPr lang="en-US" sz="1400" b="1" i="0">
              <a:solidFill>
                <a:srgbClr val="00B0F0"/>
              </a:solidFill>
              <a:latin typeface="Calibri"/>
              <a:ea typeface="Calibri"/>
              <a:cs typeface="Calibri"/>
            </a:endParaRPr>
          </a:p>
        </p:txBody>
      </p:sp>
      <p:sp>
        <p:nvSpPr>
          <p:cNvPr id="13" name="Oval 12"/>
          <p:cNvSpPr/>
          <p:nvPr/>
        </p:nvSpPr>
        <p:spPr>
          <a:xfrm>
            <a:off x="548640" y="4754879"/>
            <a:ext cx="365760" cy="365760"/>
          </a:xfrm>
          <a:prstGeom prst="ellipse">
            <a:avLst/>
          </a:prstGeom>
          <a:solidFill>
            <a:srgbClr val="121C47"/>
          </a:solidFill>
          <a:ln w="15875">
            <a:solidFill>
              <a:srgbClr val="4FC3F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dirty="0">
                <a:solidFill>
                  <a:srgbClr val="4FC3F7"/>
                </a:solidFill>
                <a:latin typeface="Consolas"/>
              </a:rPr>
              <a:t>5</a:t>
            </a:r>
          </a:p>
        </p:txBody>
      </p:sp>
      <p:sp>
        <p:nvSpPr>
          <p:cNvPr id="14" name="TextBox 13"/>
          <p:cNvSpPr txBox="1"/>
          <p:nvPr/>
        </p:nvSpPr>
        <p:spPr>
          <a:xfrm>
            <a:off x="1097280" y="4727447"/>
            <a:ext cx="9418320" cy="241285"/>
          </a:xfrm>
          <a:prstGeom prst="rect">
            <a:avLst/>
          </a:prstGeom>
          <a:noFill/>
        </p:spPr>
        <p:txBody>
          <a:bodyPr wrap="square" lIns="0" tIns="0" rIns="0" bIns="0" anchor="t">
            <a:spAutoFit/>
          </a:bodyPr>
          <a:lstStyle/>
          <a:p>
            <a:pPr algn="l">
              <a:lnSpc>
                <a:spcPct val="120000"/>
              </a:lnSpc>
            </a:pPr>
            <a:r>
              <a:rPr sz="1400" b="1" i="0" dirty="0">
                <a:solidFill>
                  <a:srgbClr val="00B0F0"/>
                </a:solidFill>
                <a:latin typeface="Calibri"/>
              </a:rPr>
              <a:t>Build it. Every change to </a:t>
            </a:r>
            <a:r>
              <a:rPr sz="1400" b="1" i="0" dirty="0" err="1">
                <a:solidFill>
                  <a:srgbClr val="00B0F0"/>
                </a:solidFill>
                <a:latin typeface="Calibri"/>
              </a:rPr>
              <a:t>src</a:t>
            </a:r>
            <a:r>
              <a:rPr sz="1400" b="1" i="0" dirty="0">
                <a:solidFill>
                  <a:srgbClr val="00B0F0"/>
                </a:solidFill>
                <a:latin typeface="Calibri"/>
              </a:rPr>
              <a:t>/ gets a test in tests/.</a:t>
            </a:r>
            <a:endParaRPr lang="en-US" sz="1400" b="1" i="0">
              <a:solidFill>
                <a:srgbClr val="00B0F0"/>
              </a:solidFill>
              <a:latin typeface="Calibri"/>
              <a:ea typeface="Calibri"/>
              <a:cs typeface="Calibri"/>
            </a:endParaRPr>
          </a:p>
        </p:txBody>
      </p:sp>
      <p:sp>
        <p:nvSpPr>
          <p:cNvPr id="15" name="Oval 14"/>
          <p:cNvSpPr/>
          <p:nvPr/>
        </p:nvSpPr>
        <p:spPr>
          <a:xfrm>
            <a:off x="548640" y="5468111"/>
            <a:ext cx="365760" cy="365760"/>
          </a:xfrm>
          <a:prstGeom prst="ellipse">
            <a:avLst/>
          </a:prstGeom>
          <a:solidFill>
            <a:srgbClr val="121C47"/>
          </a:solidFill>
          <a:ln w="15875">
            <a:solidFill>
              <a:srgbClr val="4FC3F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dirty="0">
                <a:solidFill>
                  <a:srgbClr val="4FC3F7"/>
                </a:solidFill>
                <a:latin typeface="Consolas"/>
              </a:rPr>
              <a:t>6</a:t>
            </a:r>
          </a:p>
        </p:txBody>
      </p:sp>
      <p:sp>
        <p:nvSpPr>
          <p:cNvPr id="16" name="TextBox 15"/>
          <p:cNvSpPr txBox="1"/>
          <p:nvPr/>
        </p:nvSpPr>
        <p:spPr>
          <a:xfrm>
            <a:off x="1097280" y="5440679"/>
            <a:ext cx="9418320" cy="241285"/>
          </a:xfrm>
          <a:prstGeom prst="rect">
            <a:avLst/>
          </a:prstGeom>
          <a:noFill/>
        </p:spPr>
        <p:txBody>
          <a:bodyPr wrap="square" lIns="0" tIns="0" rIns="0" bIns="0" anchor="t">
            <a:spAutoFit/>
          </a:bodyPr>
          <a:lstStyle/>
          <a:p>
            <a:pPr algn="l">
              <a:lnSpc>
                <a:spcPct val="120000"/>
              </a:lnSpc>
            </a:pPr>
            <a:r>
              <a:rPr sz="1400" b="1" i="0" dirty="0">
                <a:solidFill>
                  <a:srgbClr val="00B0F0"/>
                </a:solidFill>
                <a:latin typeface="Calibri"/>
              </a:rPr>
              <a:t>Ship, then log what you'd do differently next time.</a:t>
            </a:r>
            <a:endParaRPr lang="en-US" sz="1400" b="1" i="0">
              <a:solidFill>
                <a:srgbClr val="00B0F0"/>
              </a:solidFill>
              <a:latin typeface="Calibri"/>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221</cp:revision>
  <dcterms:created xsi:type="dcterms:W3CDTF">2013-01-27T09:14:16Z</dcterms:created>
  <dcterms:modified xsi:type="dcterms:W3CDTF">2026-10-06T16:47:06Z</dcterms:modified>
  <cp:category/>
</cp:coreProperties>
</file>